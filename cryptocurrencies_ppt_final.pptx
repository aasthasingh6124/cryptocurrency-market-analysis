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89" r:id="rId2"/>
    <p:sldId id="290" r:id="rId3"/>
    <p:sldId id="257" r:id="rId4"/>
    <p:sldId id="258" r:id="rId5"/>
    <p:sldId id="259" r:id="rId6"/>
    <p:sldId id="260" r:id="rId7"/>
    <p:sldId id="261" r:id="rId8"/>
    <p:sldId id="262" r:id="rId9"/>
    <p:sldId id="271" r:id="rId10"/>
    <p:sldId id="263" r:id="rId11"/>
    <p:sldId id="264" r:id="rId12"/>
    <p:sldId id="265" r:id="rId13"/>
    <p:sldId id="273" r:id="rId14"/>
    <p:sldId id="266" r:id="rId15"/>
    <p:sldId id="267" r:id="rId16"/>
    <p:sldId id="268" r:id="rId17"/>
    <p:sldId id="269" r:id="rId18"/>
    <p:sldId id="270" r:id="rId19"/>
    <p:sldId id="274" r:id="rId20"/>
    <p:sldId id="276" r:id="rId21"/>
    <p:sldId id="277" r:id="rId22"/>
    <p:sldId id="285" r:id="rId23"/>
    <p:sldId id="278" r:id="rId24"/>
    <p:sldId id="279" r:id="rId25"/>
    <p:sldId id="283" r:id="rId26"/>
    <p:sldId id="284" r:id="rId27"/>
    <p:sldId id="280" r:id="rId28"/>
    <p:sldId id="281" r:id="rId29"/>
    <p:sldId id="292" r:id="rId30"/>
    <p:sldId id="293" r:id="rId31"/>
    <p:sldId id="291"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09" autoAdjust="0"/>
    <p:restoredTop sz="94660"/>
  </p:normalViewPr>
  <p:slideViewPr>
    <p:cSldViewPr snapToGrid="0">
      <p:cViewPr varScale="1">
        <p:scale>
          <a:sx n="59" d="100"/>
          <a:sy n="59" d="100"/>
        </p:scale>
        <p:origin x="68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B65C16-733B-4550-834F-FB190F931899}" type="datetimeFigureOut">
              <a:rPr lang="en-IN" smtClean="0"/>
              <a:t>22-12-2025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4D965A-25D9-4C6A-975D-38FAEC61E10C}" type="slidenum">
              <a:rPr lang="en-IN" smtClean="0"/>
              <a:t>‹#›</a:t>
            </a:fld>
            <a:endParaRPr lang="en-IN"/>
          </a:p>
        </p:txBody>
      </p:sp>
    </p:spTree>
    <p:extLst>
      <p:ext uri="{BB962C8B-B14F-4D97-AF65-F5344CB8AC3E}">
        <p14:creationId xmlns:p14="http://schemas.microsoft.com/office/powerpoint/2010/main" val="488999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4D965A-25D9-4C6A-975D-38FAEC61E10C}" type="slidenum">
              <a:rPr lang="en-IN" smtClean="0"/>
              <a:t>3</a:t>
            </a:fld>
            <a:endParaRPr lang="en-IN"/>
          </a:p>
        </p:txBody>
      </p:sp>
    </p:spTree>
    <p:extLst>
      <p:ext uri="{BB962C8B-B14F-4D97-AF65-F5344CB8AC3E}">
        <p14:creationId xmlns:p14="http://schemas.microsoft.com/office/powerpoint/2010/main" val="57465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61211-F5D1-6A16-35F7-FEC827BC91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AB1B458-3E3F-F78B-9A8C-D89861AF41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7C290C0-929C-0B46-81CC-D8F023A249FC}"/>
              </a:ext>
            </a:extLst>
          </p:cNvPr>
          <p:cNvSpPr>
            <a:spLocks noGrp="1"/>
          </p:cNvSpPr>
          <p:nvPr>
            <p:ph type="dt" sz="half" idx="10"/>
          </p:nvPr>
        </p:nvSpPr>
        <p:spPr/>
        <p:txBody>
          <a:bodyPr/>
          <a:lstStyle/>
          <a:p>
            <a:fld id="{D93ABBCE-9EE6-4FD8-984D-14C9F6F96F10}" type="datetimeFigureOut">
              <a:rPr lang="en-IN" smtClean="0"/>
              <a:t>22-12-2025</a:t>
            </a:fld>
            <a:endParaRPr lang="en-IN"/>
          </a:p>
        </p:txBody>
      </p:sp>
      <p:sp>
        <p:nvSpPr>
          <p:cNvPr id="5" name="Footer Placeholder 4">
            <a:extLst>
              <a:ext uri="{FF2B5EF4-FFF2-40B4-BE49-F238E27FC236}">
                <a16:creationId xmlns:a16="http://schemas.microsoft.com/office/drawing/2014/main" id="{878D1837-4518-4E28-7506-690EA8A4C6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A5F92A-96E0-F5B8-1437-FEB7AA8C5A2B}"/>
              </a:ext>
            </a:extLst>
          </p:cNvPr>
          <p:cNvSpPr>
            <a:spLocks noGrp="1"/>
          </p:cNvSpPr>
          <p:nvPr>
            <p:ph type="sldNum" sz="quarter" idx="12"/>
          </p:nvPr>
        </p:nvSpPr>
        <p:spPr/>
        <p:txBody>
          <a:bodyPr/>
          <a:lstStyle/>
          <a:p>
            <a:fld id="{6948236A-762E-4EF2-B1DC-048BE07C679C}" type="slidenum">
              <a:rPr lang="en-IN" smtClean="0"/>
              <a:t>‹#›</a:t>
            </a:fld>
            <a:endParaRPr lang="en-IN"/>
          </a:p>
        </p:txBody>
      </p:sp>
    </p:spTree>
    <p:extLst>
      <p:ext uri="{BB962C8B-B14F-4D97-AF65-F5344CB8AC3E}">
        <p14:creationId xmlns:p14="http://schemas.microsoft.com/office/powerpoint/2010/main" val="2704346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D44AF-2611-A91C-1FCE-195F24C10C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5FBE85-23DC-CC2A-83BC-B6022F064B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B21906-3188-0A09-B589-FFA773075B08}"/>
              </a:ext>
            </a:extLst>
          </p:cNvPr>
          <p:cNvSpPr>
            <a:spLocks noGrp="1"/>
          </p:cNvSpPr>
          <p:nvPr>
            <p:ph type="dt" sz="half" idx="10"/>
          </p:nvPr>
        </p:nvSpPr>
        <p:spPr/>
        <p:txBody>
          <a:bodyPr/>
          <a:lstStyle/>
          <a:p>
            <a:fld id="{D93ABBCE-9EE6-4FD8-984D-14C9F6F96F10}" type="datetimeFigureOut">
              <a:rPr lang="en-IN" smtClean="0"/>
              <a:t>22-12-2025</a:t>
            </a:fld>
            <a:endParaRPr lang="en-IN"/>
          </a:p>
        </p:txBody>
      </p:sp>
      <p:sp>
        <p:nvSpPr>
          <p:cNvPr id="5" name="Footer Placeholder 4">
            <a:extLst>
              <a:ext uri="{FF2B5EF4-FFF2-40B4-BE49-F238E27FC236}">
                <a16:creationId xmlns:a16="http://schemas.microsoft.com/office/drawing/2014/main" id="{F57DFAA7-5E4A-F401-A664-D9094B2B8F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9DFD7C-5CD7-E856-E2F4-F6939402AE0E}"/>
              </a:ext>
            </a:extLst>
          </p:cNvPr>
          <p:cNvSpPr>
            <a:spLocks noGrp="1"/>
          </p:cNvSpPr>
          <p:nvPr>
            <p:ph type="sldNum" sz="quarter" idx="12"/>
          </p:nvPr>
        </p:nvSpPr>
        <p:spPr/>
        <p:txBody>
          <a:bodyPr/>
          <a:lstStyle/>
          <a:p>
            <a:fld id="{6948236A-762E-4EF2-B1DC-048BE07C679C}" type="slidenum">
              <a:rPr lang="en-IN" smtClean="0"/>
              <a:t>‹#›</a:t>
            </a:fld>
            <a:endParaRPr lang="en-IN"/>
          </a:p>
        </p:txBody>
      </p:sp>
    </p:spTree>
    <p:extLst>
      <p:ext uri="{BB962C8B-B14F-4D97-AF65-F5344CB8AC3E}">
        <p14:creationId xmlns:p14="http://schemas.microsoft.com/office/powerpoint/2010/main" val="972295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6F020-B98C-E2F5-37EA-843D943BF0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F256931-B18B-1D54-4891-4016558E17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39CA40-D6C7-4199-5E9D-D67569EA27BA}"/>
              </a:ext>
            </a:extLst>
          </p:cNvPr>
          <p:cNvSpPr>
            <a:spLocks noGrp="1"/>
          </p:cNvSpPr>
          <p:nvPr>
            <p:ph type="dt" sz="half" idx="10"/>
          </p:nvPr>
        </p:nvSpPr>
        <p:spPr/>
        <p:txBody>
          <a:bodyPr/>
          <a:lstStyle/>
          <a:p>
            <a:fld id="{D93ABBCE-9EE6-4FD8-984D-14C9F6F96F10}" type="datetimeFigureOut">
              <a:rPr lang="en-IN" smtClean="0"/>
              <a:t>22-12-2025</a:t>
            </a:fld>
            <a:endParaRPr lang="en-IN"/>
          </a:p>
        </p:txBody>
      </p:sp>
      <p:sp>
        <p:nvSpPr>
          <p:cNvPr id="5" name="Footer Placeholder 4">
            <a:extLst>
              <a:ext uri="{FF2B5EF4-FFF2-40B4-BE49-F238E27FC236}">
                <a16:creationId xmlns:a16="http://schemas.microsoft.com/office/drawing/2014/main" id="{0B71B8AE-E8B7-0FAB-9D5C-154C107C62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F6ECF3-7E4D-CFDB-9B02-74327F33EF92}"/>
              </a:ext>
            </a:extLst>
          </p:cNvPr>
          <p:cNvSpPr>
            <a:spLocks noGrp="1"/>
          </p:cNvSpPr>
          <p:nvPr>
            <p:ph type="sldNum" sz="quarter" idx="12"/>
          </p:nvPr>
        </p:nvSpPr>
        <p:spPr/>
        <p:txBody>
          <a:bodyPr/>
          <a:lstStyle/>
          <a:p>
            <a:fld id="{6948236A-762E-4EF2-B1DC-048BE07C679C}" type="slidenum">
              <a:rPr lang="en-IN" smtClean="0"/>
              <a:t>‹#›</a:t>
            </a:fld>
            <a:endParaRPr lang="en-IN"/>
          </a:p>
        </p:txBody>
      </p:sp>
    </p:spTree>
    <p:extLst>
      <p:ext uri="{BB962C8B-B14F-4D97-AF65-F5344CB8AC3E}">
        <p14:creationId xmlns:p14="http://schemas.microsoft.com/office/powerpoint/2010/main" val="1194245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CF5D4-4973-7116-1E89-E6ACA71B39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6B17F24-9346-F9B2-3F29-90162699DA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7676631-76FC-2B27-746C-028295FBAF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6988581-47F3-4AD8-045B-8F6AC5E654CF}"/>
              </a:ext>
            </a:extLst>
          </p:cNvPr>
          <p:cNvSpPr>
            <a:spLocks noGrp="1"/>
          </p:cNvSpPr>
          <p:nvPr>
            <p:ph type="dt" sz="half" idx="10"/>
          </p:nvPr>
        </p:nvSpPr>
        <p:spPr/>
        <p:txBody>
          <a:bodyPr/>
          <a:lstStyle/>
          <a:p>
            <a:fld id="{D93ABBCE-9EE6-4FD8-984D-14C9F6F96F10}" type="datetimeFigureOut">
              <a:rPr lang="en-IN" smtClean="0"/>
              <a:t>22-12-2025</a:t>
            </a:fld>
            <a:endParaRPr lang="en-IN"/>
          </a:p>
        </p:txBody>
      </p:sp>
      <p:sp>
        <p:nvSpPr>
          <p:cNvPr id="6" name="Footer Placeholder 5">
            <a:extLst>
              <a:ext uri="{FF2B5EF4-FFF2-40B4-BE49-F238E27FC236}">
                <a16:creationId xmlns:a16="http://schemas.microsoft.com/office/drawing/2014/main" id="{21B5B177-9B24-0F0F-02EE-50213ABE55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9C1A87-987B-275F-3557-986EC8572158}"/>
              </a:ext>
            </a:extLst>
          </p:cNvPr>
          <p:cNvSpPr>
            <a:spLocks noGrp="1"/>
          </p:cNvSpPr>
          <p:nvPr>
            <p:ph type="sldNum" sz="quarter" idx="12"/>
          </p:nvPr>
        </p:nvSpPr>
        <p:spPr/>
        <p:txBody>
          <a:bodyPr/>
          <a:lstStyle/>
          <a:p>
            <a:fld id="{6948236A-762E-4EF2-B1DC-048BE07C679C}" type="slidenum">
              <a:rPr lang="en-IN" smtClean="0"/>
              <a:t>‹#›</a:t>
            </a:fld>
            <a:endParaRPr lang="en-IN"/>
          </a:p>
        </p:txBody>
      </p:sp>
    </p:spTree>
    <p:extLst>
      <p:ext uri="{BB962C8B-B14F-4D97-AF65-F5344CB8AC3E}">
        <p14:creationId xmlns:p14="http://schemas.microsoft.com/office/powerpoint/2010/main" val="1513890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263CC-3E15-4960-CF7A-081DB511A51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11AB5E-ECA0-A589-E25D-EA907440FE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4B4EF6-395B-6BDA-D4E9-6C0ED1AAEC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B251B35-7647-97CB-8AB7-E745591CFD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5408A0-8475-8BC3-A28E-7F066D1C0F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443F607-F5AD-EEC3-5887-3ED63BF581D1}"/>
              </a:ext>
            </a:extLst>
          </p:cNvPr>
          <p:cNvSpPr>
            <a:spLocks noGrp="1"/>
          </p:cNvSpPr>
          <p:nvPr>
            <p:ph type="dt" sz="half" idx="10"/>
          </p:nvPr>
        </p:nvSpPr>
        <p:spPr/>
        <p:txBody>
          <a:bodyPr/>
          <a:lstStyle/>
          <a:p>
            <a:fld id="{D93ABBCE-9EE6-4FD8-984D-14C9F6F96F10}" type="datetimeFigureOut">
              <a:rPr lang="en-IN" smtClean="0"/>
              <a:t>22-12-2025</a:t>
            </a:fld>
            <a:endParaRPr lang="en-IN"/>
          </a:p>
        </p:txBody>
      </p:sp>
      <p:sp>
        <p:nvSpPr>
          <p:cNvPr id="8" name="Footer Placeholder 7">
            <a:extLst>
              <a:ext uri="{FF2B5EF4-FFF2-40B4-BE49-F238E27FC236}">
                <a16:creationId xmlns:a16="http://schemas.microsoft.com/office/drawing/2014/main" id="{224CDD55-CD4E-F095-8623-A3F77498168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D3CC89F-EAA7-C8F0-FE87-C5923AAD086E}"/>
              </a:ext>
            </a:extLst>
          </p:cNvPr>
          <p:cNvSpPr>
            <a:spLocks noGrp="1"/>
          </p:cNvSpPr>
          <p:nvPr>
            <p:ph type="sldNum" sz="quarter" idx="12"/>
          </p:nvPr>
        </p:nvSpPr>
        <p:spPr/>
        <p:txBody>
          <a:bodyPr/>
          <a:lstStyle/>
          <a:p>
            <a:fld id="{6948236A-762E-4EF2-B1DC-048BE07C679C}" type="slidenum">
              <a:rPr lang="en-IN" smtClean="0"/>
              <a:t>‹#›</a:t>
            </a:fld>
            <a:endParaRPr lang="en-IN"/>
          </a:p>
        </p:txBody>
      </p:sp>
    </p:spTree>
    <p:extLst>
      <p:ext uri="{BB962C8B-B14F-4D97-AF65-F5344CB8AC3E}">
        <p14:creationId xmlns:p14="http://schemas.microsoft.com/office/powerpoint/2010/main" val="206906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F4429-C462-D8BF-2B0D-CCFDE401E4B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8581F17-EECD-4A2F-C86C-A65AE78B123C}"/>
              </a:ext>
            </a:extLst>
          </p:cNvPr>
          <p:cNvSpPr>
            <a:spLocks noGrp="1"/>
          </p:cNvSpPr>
          <p:nvPr>
            <p:ph type="dt" sz="half" idx="10"/>
          </p:nvPr>
        </p:nvSpPr>
        <p:spPr/>
        <p:txBody>
          <a:bodyPr/>
          <a:lstStyle/>
          <a:p>
            <a:fld id="{D93ABBCE-9EE6-4FD8-984D-14C9F6F96F10}" type="datetimeFigureOut">
              <a:rPr lang="en-IN" smtClean="0"/>
              <a:t>22-12-2025</a:t>
            </a:fld>
            <a:endParaRPr lang="en-IN"/>
          </a:p>
        </p:txBody>
      </p:sp>
      <p:sp>
        <p:nvSpPr>
          <p:cNvPr id="4" name="Footer Placeholder 3">
            <a:extLst>
              <a:ext uri="{FF2B5EF4-FFF2-40B4-BE49-F238E27FC236}">
                <a16:creationId xmlns:a16="http://schemas.microsoft.com/office/drawing/2014/main" id="{BC0CA698-3D0F-B153-8DF0-08C5220DF01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21E6F7D-347E-FC78-BE4E-4F086758328F}"/>
              </a:ext>
            </a:extLst>
          </p:cNvPr>
          <p:cNvSpPr>
            <a:spLocks noGrp="1"/>
          </p:cNvSpPr>
          <p:nvPr>
            <p:ph type="sldNum" sz="quarter" idx="12"/>
          </p:nvPr>
        </p:nvSpPr>
        <p:spPr/>
        <p:txBody>
          <a:bodyPr/>
          <a:lstStyle/>
          <a:p>
            <a:fld id="{6948236A-762E-4EF2-B1DC-048BE07C679C}" type="slidenum">
              <a:rPr lang="en-IN" smtClean="0"/>
              <a:t>‹#›</a:t>
            </a:fld>
            <a:endParaRPr lang="en-IN"/>
          </a:p>
        </p:txBody>
      </p:sp>
    </p:spTree>
    <p:extLst>
      <p:ext uri="{BB962C8B-B14F-4D97-AF65-F5344CB8AC3E}">
        <p14:creationId xmlns:p14="http://schemas.microsoft.com/office/powerpoint/2010/main" val="4228838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120786-BE64-CEFA-DD1A-9CEF17AFCB88}"/>
              </a:ext>
            </a:extLst>
          </p:cNvPr>
          <p:cNvSpPr>
            <a:spLocks noGrp="1"/>
          </p:cNvSpPr>
          <p:nvPr>
            <p:ph type="dt" sz="half" idx="10"/>
          </p:nvPr>
        </p:nvSpPr>
        <p:spPr/>
        <p:txBody>
          <a:bodyPr/>
          <a:lstStyle/>
          <a:p>
            <a:fld id="{D93ABBCE-9EE6-4FD8-984D-14C9F6F96F10}" type="datetimeFigureOut">
              <a:rPr lang="en-IN" smtClean="0"/>
              <a:t>22-12-2025</a:t>
            </a:fld>
            <a:endParaRPr lang="en-IN"/>
          </a:p>
        </p:txBody>
      </p:sp>
      <p:sp>
        <p:nvSpPr>
          <p:cNvPr id="3" name="Footer Placeholder 2">
            <a:extLst>
              <a:ext uri="{FF2B5EF4-FFF2-40B4-BE49-F238E27FC236}">
                <a16:creationId xmlns:a16="http://schemas.microsoft.com/office/drawing/2014/main" id="{C55DEEB2-DDC0-5979-653B-27A97E0F3BB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192DDCE-D25C-4254-EEE9-307BA7A3DDD6}"/>
              </a:ext>
            </a:extLst>
          </p:cNvPr>
          <p:cNvSpPr>
            <a:spLocks noGrp="1"/>
          </p:cNvSpPr>
          <p:nvPr>
            <p:ph type="sldNum" sz="quarter" idx="12"/>
          </p:nvPr>
        </p:nvSpPr>
        <p:spPr/>
        <p:txBody>
          <a:bodyPr/>
          <a:lstStyle/>
          <a:p>
            <a:fld id="{6948236A-762E-4EF2-B1DC-048BE07C679C}" type="slidenum">
              <a:rPr lang="en-IN" smtClean="0"/>
              <a:t>‹#›</a:t>
            </a:fld>
            <a:endParaRPr lang="en-IN"/>
          </a:p>
        </p:txBody>
      </p:sp>
      <p:pic>
        <p:nvPicPr>
          <p:cNvPr id="6" name="Picture 5">
            <a:extLst>
              <a:ext uri="{FF2B5EF4-FFF2-40B4-BE49-F238E27FC236}">
                <a16:creationId xmlns:a16="http://schemas.microsoft.com/office/drawing/2014/main" id="{0FF06EA2-9226-05D5-2352-7F409393E32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0600" y="6116187"/>
            <a:ext cx="3306617" cy="480325"/>
          </a:xfrm>
          <a:prstGeom prst="rect">
            <a:avLst/>
          </a:prstGeom>
        </p:spPr>
      </p:pic>
    </p:spTree>
    <p:extLst>
      <p:ext uri="{BB962C8B-B14F-4D97-AF65-F5344CB8AC3E}">
        <p14:creationId xmlns:p14="http://schemas.microsoft.com/office/powerpoint/2010/main" val="188254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B0D16-C664-ADA4-7C9E-E08245718D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88E67D0-50A9-267A-321C-EBA24E4ABD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56AEB2-A4AD-A6FB-DEFC-3ECE10703A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30E6C1-330E-24E4-40D8-9578956C1F59}"/>
              </a:ext>
            </a:extLst>
          </p:cNvPr>
          <p:cNvSpPr>
            <a:spLocks noGrp="1"/>
          </p:cNvSpPr>
          <p:nvPr>
            <p:ph type="dt" sz="half" idx="10"/>
          </p:nvPr>
        </p:nvSpPr>
        <p:spPr/>
        <p:txBody>
          <a:bodyPr/>
          <a:lstStyle/>
          <a:p>
            <a:fld id="{D93ABBCE-9EE6-4FD8-984D-14C9F6F96F10}" type="datetimeFigureOut">
              <a:rPr lang="en-IN" smtClean="0"/>
              <a:t>22-12-2025</a:t>
            </a:fld>
            <a:endParaRPr lang="en-IN"/>
          </a:p>
        </p:txBody>
      </p:sp>
      <p:sp>
        <p:nvSpPr>
          <p:cNvPr id="6" name="Footer Placeholder 5">
            <a:extLst>
              <a:ext uri="{FF2B5EF4-FFF2-40B4-BE49-F238E27FC236}">
                <a16:creationId xmlns:a16="http://schemas.microsoft.com/office/drawing/2014/main" id="{D009B2C7-3E25-EF14-6FB8-9CF8A98666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05E711-E960-5F6C-BBBC-BFEFFDAA3D3F}"/>
              </a:ext>
            </a:extLst>
          </p:cNvPr>
          <p:cNvSpPr>
            <a:spLocks noGrp="1"/>
          </p:cNvSpPr>
          <p:nvPr>
            <p:ph type="sldNum" sz="quarter" idx="12"/>
          </p:nvPr>
        </p:nvSpPr>
        <p:spPr/>
        <p:txBody>
          <a:bodyPr/>
          <a:lstStyle/>
          <a:p>
            <a:fld id="{6948236A-762E-4EF2-B1DC-048BE07C679C}" type="slidenum">
              <a:rPr lang="en-IN" smtClean="0"/>
              <a:t>‹#›</a:t>
            </a:fld>
            <a:endParaRPr lang="en-IN"/>
          </a:p>
        </p:txBody>
      </p:sp>
    </p:spTree>
    <p:extLst>
      <p:ext uri="{BB962C8B-B14F-4D97-AF65-F5344CB8AC3E}">
        <p14:creationId xmlns:p14="http://schemas.microsoft.com/office/powerpoint/2010/main" val="3382989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66B5B-997F-B845-E9EA-1496EDE1C5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2118BC5-5829-6C53-36D1-EFF5F53762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CC2D375-F9D8-A20B-5A44-0AD50DDAAD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3AC557-1D5F-FB5D-09B4-C80B4B6475F5}"/>
              </a:ext>
            </a:extLst>
          </p:cNvPr>
          <p:cNvSpPr>
            <a:spLocks noGrp="1"/>
          </p:cNvSpPr>
          <p:nvPr>
            <p:ph type="dt" sz="half" idx="10"/>
          </p:nvPr>
        </p:nvSpPr>
        <p:spPr/>
        <p:txBody>
          <a:bodyPr/>
          <a:lstStyle/>
          <a:p>
            <a:fld id="{D93ABBCE-9EE6-4FD8-984D-14C9F6F96F10}" type="datetimeFigureOut">
              <a:rPr lang="en-IN" smtClean="0"/>
              <a:t>22-12-2025</a:t>
            </a:fld>
            <a:endParaRPr lang="en-IN"/>
          </a:p>
        </p:txBody>
      </p:sp>
      <p:sp>
        <p:nvSpPr>
          <p:cNvPr id="6" name="Footer Placeholder 5">
            <a:extLst>
              <a:ext uri="{FF2B5EF4-FFF2-40B4-BE49-F238E27FC236}">
                <a16:creationId xmlns:a16="http://schemas.microsoft.com/office/drawing/2014/main" id="{49940E08-B651-D5ED-F517-52FFAC91CB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9D8379-8299-80D9-C7A0-100BF5448BFD}"/>
              </a:ext>
            </a:extLst>
          </p:cNvPr>
          <p:cNvSpPr>
            <a:spLocks noGrp="1"/>
          </p:cNvSpPr>
          <p:nvPr>
            <p:ph type="sldNum" sz="quarter" idx="12"/>
          </p:nvPr>
        </p:nvSpPr>
        <p:spPr/>
        <p:txBody>
          <a:bodyPr/>
          <a:lstStyle/>
          <a:p>
            <a:fld id="{6948236A-762E-4EF2-B1DC-048BE07C679C}" type="slidenum">
              <a:rPr lang="en-IN" smtClean="0"/>
              <a:t>‹#›</a:t>
            </a:fld>
            <a:endParaRPr lang="en-IN"/>
          </a:p>
        </p:txBody>
      </p:sp>
    </p:spTree>
    <p:extLst>
      <p:ext uri="{BB962C8B-B14F-4D97-AF65-F5344CB8AC3E}">
        <p14:creationId xmlns:p14="http://schemas.microsoft.com/office/powerpoint/2010/main" val="2568418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2FEAE-E957-471E-DD2A-E66183B7E37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71E51F-9592-55EE-331F-E88D9660BE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2A06A0-8325-4926-AABC-A52F5A013D6F}"/>
              </a:ext>
            </a:extLst>
          </p:cNvPr>
          <p:cNvSpPr>
            <a:spLocks noGrp="1"/>
          </p:cNvSpPr>
          <p:nvPr>
            <p:ph type="dt" sz="half" idx="10"/>
          </p:nvPr>
        </p:nvSpPr>
        <p:spPr/>
        <p:txBody>
          <a:bodyPr/>
          <a:lstStyle/>
          <a:p>
            <a:fld id="{D93ABBCE-9EE6-4FD8-984D-14C9F6F96F10}" type="datetimeFigureOut">
              <a:rPr lang="en-IN" smtClean="0"/>
              <a:t>22-12-2025</a:t>
            </a:fld>
            <a:endParaRPr lang="en-IN"/>
          </a:p>
        </p:txBody>
      </p:sp>
      <p:sp>
        <p:nvSpPr>
          <p:cNvPr id="5" name="Footer Placeholder 4">
            <a:extLst>
              <a:ext uri="{FF2B5EF4-FFF2-40B4-BE49-F238E27FC236}">
                <a16:creationId xmlns:a16="http://schemas.microsoft.com/office/drawing/2014/main" id="{447EA8A2-04C9-2130-8778-C1E1C90110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0C60B1-E90F-EBF6-A502-724276D4205C}"/>
              </a:ext>
            </a:extLst>
          </p:cNvPr>
          <p:cNvSpPr>
            <a:spLocks noGrp="1"/>
          </p:cNvSpPr>
          <p:nvPr>
            <p:ph type="sldNum" sz="quarter" idx="12"/>
          </p:nvPr>
        </p:nvSpPr>
        <p:spPr/>
        <p:txBody>
          <a:bodyPr/>
          <a:lstStyle/>
          <a:p>
            <a:fld id="{6948236A-762E-4EF2-B1DC-048BE07C679C}" type="slidenum">
              <a:rPr lang="en-IN" smtClean="0"/>
              <a:t>‹#›</a:t>
            </a:fld>
            <a:endParaRPr lang="en-IN"/>
          </a:p>
        </p:txBody>
      </p:sp>
    </p:spTree>
    <p:extLst>
      <p:ext uri="{BB962C8B-B14F-4D97-AF65-F5344CB8AC3E}">
        <p14:creationId xmlns:p14="http://schemas.microsoft.com/office/powerpoint/2010/main" val="689358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A697F2-B2CD-361E-D1A2-5F5EDB7154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209A6C-B85C-E9E4-A4C3-15C6684414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38CFB6-CA7E-8C07-37B4-C40051A4EB8E}"/>
              </a:ext>
            </a:extLst>
          </p:cNvPr>
          <p:cNvSpPr>
            <a:spLocks noGrp="1"/>
          </p:cNvSpPr>
          <p:nvPr>
            <p:ph type="dt" sz="half" idx="10"/>
          </p:nvPr>
        </p:nvSpPr>
        <p:spPr/>
        <p:txBody>
          <a:bodyPr/>
          <a:lstStyle/>
          <a:p>
            <a:fld id="{D93ABBCE-9EE6-4FD8-984D-14C9F6F96F10}" type="datetimeFigureOut">
              <a:rPr lang="en-IN" smtClean="0"/>
              <a:t>22-12-2025</a:t>
            </a:fld>
            <a:endParaRPr lang="en-IN"/>
          </a:p>
        </p:txBody>
      </p:sp>
      <p:sp>
        <p:nvSpPr>
          <p:cNvPr id="5" name="Footer Placeholder 4">
            <a:extLst>
              <a:ext uri="{FF2B5EF4-FFF2-40B4-BE49-F238E27FC236}">
                <a16:creationId xmlns:a16="http://schemas.microsoft.com/office/drawing/2014/main" id="{66A73504-41FE-DFD6-1413-3CF91A3BB1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462CB4-9DBB-6E97-EACC-D959D59085E0}"/>
              </a:ext>
            </a:extLst>
          </p:cNvPr>
          <p:cNvSpPr>
            <a:spLocks noGrp="1"/>
          </p:cNvSpPr>
          <p:nvPr>
            <p:ph type="sldNum" sz="quarter" idx="12"/>
          </p:nvPr>
        </p:nvSpPr>
        <p:spPr/>
        <p:txBody>
          <a:bodyPr/>
          <a:lstStyle/>
          <a:p>
            <a:fld id="{6948236A-762E-4EF2-B1DC-048BE07C679C}" type="slidenum">
              <a:rPr lang="en-IN" smtClean="0"/>
              <a:t>‹#›</a:t>
            </a:fld>
            <a:endParaRPr lang="en-IN"/>
          </a:p>
        </p:txBody>
      </p:sp>
    </p:spTree>
    <p:extLst>
      <p:ext uri="{BB962C8B-B14F-4D97-AF65-F5344CB8AC3E}">
        <p14:creationId xmlns:p14="http://schemas.microsoft.com/office/powerpoint/2010/main" val="2027929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246059-849D-F9A6-33C9-E914F0BA57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06FBE6-71BC-4BDC-1243-0C6E764EDD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CF3FDB-6919-42C9-19C7-FAA840224E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3ABBCE-9EE6-4FD8-984D-14C9F6F96F10}" type="datetimeFigureOut">
              <a:rPr lang="en-IN" smtClean="0"/>
              <a:t>22-12-2025</a:t>
            </a:fld>
            <a:endParaRPr lang="en-IN"/>
          </a:p>
        </p:txBody>
      </p:sp>
      <p:sp>
        <p:nvSpPr>
          <p:cNvPr id="5" name="Footer Placeholder 4">
            <a:extLst>
              <a:ext uri="{FF2B5EF4-FFF2-40B4-BE49-F238E27FC236}">
                <a16:creationId xmlns:a16="http://schemas.microsoft.com/office/drawing/2014/main" id="{0FA092F9-EF79-DFB1-CCFA-5A54066F0E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BA7F6B2-136C-B26C-52E2-EE1BEB4580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48236A-762E-4EF2-B1DC-048BE07C679C}" type="slidenum">
              <a:rPr lang="en-IN" smtClean="0"/>
              <a:t>‹#›</a:t>
            </a:fld>
            <a:endParaRPr lang="en-IN"/>
          </a:p>
        </p:txBody>
      </p:sp>
    </p:spTree>
    <p:extLst>
      <p:ext uri="{BB962C8B-B14F-4D97-AF65-F5344CB8AC3E}">
        <p14:creationId xmlns:p14="http://schemas.microsoft.com/office/powerpoint/2010/main" val="1419165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2" descr="object 2">
            <a:extLst>
              <a:ext uri="{FF2B5EF4-FFF2-40B4-BE49-F238E27FC236}">
                <a16:creationId xmlns:a16="http://schemas.microsoft.com/office/drawing/2014/main" id="{F24F8462-E339-5DB8-97CE-D149FC2CC7CF}"/>
              </a:ext>
            </a:extLst>
          </p:cNvPr>
          <p:cNvPicPr>
            <a:picLocks noChangeAspect="1"/>
          </p:cNvPicPr>
          <p:nvPr/>
        </p:nvPicPr>
        <p:blipFill>
          <a:blip r:embed="rId2"/>
          <a:stretch>
            <a:fillRect/>
          </a:stretch>
        </p:blipFill>
        <p:spPr>
          <a:xfrm>
            <a:off x="43544" y="21772"/>
            <a:ext cx="12192000" cy="6858000"/>
          </a:xfrm>
          <a:prstGeom prst="rect">
            <a:avLst/>
          </a:prstGeom>
          <a:ln w="12700">
            <a:miter lim="400000"/>
          </a:ln>
        </p:spPr>
      </p:pic>
      <p:sp>
        <p:nvSpPr>
          <p:cNvPr id="8" name="TextBox 7">
            <a:extLst>
              <a:ext uri="{FF2B5EF4-FFF2-40B4-BE49-F238E27FC236}">
                <a16:creationId xmlns:a16="http://schemas.microsoft.com/office/drawing/2014/main" id="{86B19DC3-FC70-188F-67AA-AC2CF1EDFCAE}"/>
              </a:ext>
            </a:extLst>
          </p:cNvPr>
          <p:cNvSpPr txBox="1"/>
          <p:nvPr/>
        </p:nvSpPr>
        <p:spPr>
          <a:xfrm>
            <a:off x="3052916" y="3699386"/>
            <a:ext cx="6086168"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       Cryptocurrencies Dataset</a:t>
            </a:r>
          </a:p>
        </p:txBody>
      </p:sp>
      <p:sp>
        <p:nvSpPr>
          <p:cNvPr id="9" name="TextBox 8">
            <a:extLst>
              <a:ext uri="{FF2B5EF4-FFF2-40B4-BE49-F238E27FC236}">
                <a16:creationId xmlns:a16="http://schemas.microsoft.com/office/drawing/2014/main" id="{CF0311AB-C81F-276B-F99D-35C5913C9B5C}"/>
              </a:ext>
            </a:extLst>
          </p:cNvPr>
          <p:cNvSpPr txBox="1"/>
          <p:nvPr/>
        </p:nvSpPr>
        <p:spPr>
          <a:xfrm>
            <a:off x="185058" y="4800600"/>
            <a:ext cx="6086168" cy="2062103"/>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PRESENTED BY</a:t>
            </a:r>
          </a:p>
          <a:p>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Aastha Singh - Batch - 441</a:t>
            </a:r>
          </a:p>
          <a:p>
            <a:r>
              <a:rPr lang="en-IN" sz="2000" dirty="0" err="1">
                <a:latin typeface="Times New Roman" panose="02020603050405020304" pitchFamily="18" charset="0"/>
                <a:cs typeface="Times New Roman" panose="02020603050405020304" pitchFamily="18" charset="0"/>
              </a:rPr>
              <a:t>Yallapragada</a:t>
            </a:r>
            <a:r>
              <a:rPr lang="en-IN" sz="2000" dirty="0">
                <a:latin typeface="Times New Roman" panose="02020603050405020304" pitchFamily="18" charset="0"/>
                <a:cs typeface="Times New Roman" panose="02020603050405020304" pitchFamily="18" charset="0"/>
              </a:rPr>
              <a:t> Anusha - Batch - 440</a:t>
            </a:r>
          </a:p>
          <a:p>
            <a:r>
              <a:rPr lang="en-IN" sz="2000" dirty="0" err="1">
                <a:latin typeface="Times New Roman" panose="02020603050405020304" pitchFamily="18" charset="0"/>
                <a:cs typeface="Times New Roman" panose="02020603050405020304" pitchFamily="18" charset="0"/>
              </a:rPr>
              <a:t>Vinnamala</a:t>
            </a:r>
            <a:r>
              <a:rPr lang="en-IN" sz="2000" dirty="0">
                <a:latin typeface="Times New Roman" panose="02020603050405020304" pitchFamily="18" charset="0"/>
                <a:cs typeface="Times New Roman" panose="02020603050405020304" pitchFamily="18" charset="0"/>
              </a:rPr>
              <a:t> Chandra Sekhar - Batch - 441</a:t>
            </a:r>
          </a:p>
          <a:p>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0793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BF5F9F98-40D6-70B7-4017-14BFDD583F27}"/>
              </a:ext>
            </a:extLst>
          </p:cNvPr>
          <p:cNvSpPr txBox="1"/>
          <p:nvPr/>
        </p:nvSpPr>
        <p:spPr>
          <a:xfrm>
            <a:off x="838199" y="1121229"/>
            <a:ext cx="10863943" cy="3785652"/>
          </a:xfrm>
          <a:prstGeom prst="rect">
            <a:avLst/>
          </a:prstGeom>
          <a:noFill/>
        </p:spPr>
        <p:txBody>
          <a:bodyPr wrap="square">
            <a:spAutoFit/>
          </a:bodyPr>
          <a:lstStyle/>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Cryptocurrency has emerged as a major digital financial asset characterized by high volatility and rapid market changes. Thousands of cryptocurrencies are traded globally with varying prices, market capitalizations, and trading volumes.</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project analyzes the Top 1000 Cryptocurrencies – Real-Time Data (2025) dataset using Exploratory Data Analysis (EDA) techniques to understand market behavior, trends, and risk patterns. The dataset includes information such as current price, market capitalization, trading volume, price change percentages, and supply-related indicators.</a:t>
            </a:r>
          </a:p>
        </p:txBody>
      </p:sp>
      <p:sp>
        <p:nvSpPr>
          <p:cNvPr id="13" name="TextBox 12">
            <a:extLst>
              <a:ext uri="{FF2B5EF4-FFF2-40B4-BE49-F238E27FC236}">
                <a16:creationId xmlns:a16="http://schemas.microsoft.com/office/drawing/2014/main" id="{9AA91B82-850F-778F-7426-D8C445446569}"/>
              </a:ext>
            </a:extLst>
          </p:cNvPr>
          <p:cNvSpPr txBox="1"/>
          <p:nvPr/>
        </p:nvSpPr>
        <p:spPr>
          <a:xfrm>
            <a:off x="4409440" y="348983"/>
            <a:ext cx="3248751"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283520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C54FC60-935C-0634-9044-6B395E059B78}"/>
              </a:ext>
            </a:extLst>
          </p:cNvPr>
          <p:cNvSpPr txBox="1"/>
          <p:nvPr/>
        </p:nvSpPr>
        <p:spPr>
          <a:xfrm>
            <a:off x="810668" y="1319633"/>
            <a:ext cx="11088821" cy="5078313"/>
          </a:xfrm>
          <a:prstGeom prst="rect">
            <a:avLst/>
          </a:prstGeom>
          <a:noFill/>
        </p:spPr>
        <p:txBody>
          <a:bodyPr wrap="square" rtlCol="0">
            <a:spAutoFit/>
          </a:bodyPr>
          <a:lstStyle/>
          <a:p>
            <a:pPr lvl="0"/>
            <a:r>
              <a:rPr lang="en-US" dirty="0">
                <a:latin typeface="Times New Roman" panose="02020603050405020304" pitchFamily="18" charset="0"/>
                <a:cs typeface="Times New Roman" panose="02020603050405020304" pitchFamily="18" charset="0"/>
              </a:rPr>
              <a:t>Comprehensive overview of the top 1,000 cryptocurrencies by market capitalization, collected from </a:t>
            </a:r>
            <a:r>
              <a:rPr lang="en-US" dirty="0" err="1">
                <a:latin typeface="Times New Roman" panose="02020603050405020304" pitchFamily="18" charset="0"/>
                <a:cs typeface="Times New Roman" panose="02020603050405020304" pitchFamily="18" charset="0"/>
              </a:rPr>
              <a:t>CoinGecko</a:t>
            </a:r>
            <a:r>
              <a:rPr lang="en-US" dirty="0">
                <a:latin typeface="Times New Roman" panose="02020603050405020304" pitchFamily="18" charset="0"/>
                <a:cs typeface="Times New Roman" panose="02020603050405020304" pitchFamily="18" charset="0"/>
              </a:rPr>
              <a:t> API in December 2025. Includes current prices, market data, supply information, and detailed community/developer statistics for the top 100 coins.</a:t>
            </a:r>
          </a:p>
          <a:p>
            <a:pPr lvl="0"/>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dataset contains 1000 rows and 30 columns representing cryptocurrency market data.</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Columns include: 'id', 'symbol', 'name', '</a:t>
            </a:r>
            <a:r>
              <a:rPr lang="en-IN" dirty="0" err="1">
                <a:latin typeface="Times New Roman" panose="02020603050405020304" pitchFamily="18" charset="0"/>
                <a:cs typeface="Times New Roman" panose="02020603050405020304" pitchFamily="18" charset="0"/>
              </a:rPr>
              <a:t>market_cap_rank</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current_price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market_cap</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fully_diluted_valuation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total_volume</a:t>
            </a:r>
            <a:r>
              <a:rPr lang="en-IN" dirty="0">
                <a:latin typeface="Times New Roman" panose="02020603050405020304" pitchFamily="18" charset="0"/>
                <a:cs typeface="Times New Roman" panose="02020603050405020304" pitchFamily="18" charset="0"/>
              </a:rPr>
              <a:t>', 'high_24h', 'low_24h', '</a:t>
            </a:r>
            <a:r>
              <a:rPr lang="en-IN" dirty="0" err="1">
                <a:latin typeface="Times New Roman" panose="02020603050405020304" pitchFamily="18" charset="0"/>
                <a:cs typeface="Times New Roman" panose="02020603050405020304" pitchFamily="18" charset="0"/>
              </a:rPr>
              <a:t>circulating_supply</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total_supply</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max_supply</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ath</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ath_change_percentage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ath_date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atl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atl_change_percentage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atl_date</a:t>
            </a:r>
            <a:r>
              <a:rPr lang="en-IN" dirty="0">
                <a:latin typeface="Times New Roman" panose="02020603050405020304" pitchFamily="18" charset="0"/>
                <a:cs typeface="Times New Roman" panose="02020603050405020304" pitchFamily="18" charset="0"/>
              </a:rPr>
              <a:t>', 'price_change_24h', 'price_change_percentage_24h', 'price_change_percentage_1h', 'price_change_percentage_7d', 'price_change_percentage_30d', 'price_change_percentage_1y', 'market_cap_change_24h', 'market_cap_change_percentage_24h', '</a:t>
            </a:r>
            <a:r>
              <a:rPr lang="en-IN" dirty="0" err="1">
                <a:latin typeface="Times New Roman" panose="02020603050405020304" pitchFamily="18" charset="0"/>
                <a:cs typeface="Times New Roman" panose="02020603050405020304" pitchFamily="18" charset="0"/>
              </a:rPr>
              <a:t>last_updated</a:t>
            </a:r>
            <a:r>
              <a:rPr lang="en-IN" dirty="0">
                <a:latin typeface="Times New Roman" panose="02020603050405020304" pitchFamily="18" charset="0"/>
                <a:cs typeface="Times New Roman" panose="02020603050405020304" pitchFamily="18" charset="0"/>
              </a:rPr>
              <a:t>', 'image', '</a:t>
            </a:r>
            <a:r>
              <a:rPr lang="en-IN" dirty="0" err="1">
                <a:latin typeface="Times New Roman" panose="02020603050405020304" pitchFamily="18" charset="0"/>
                <a:cs typeface="Times New Roman" panose="02020603050405020304" pitchFamily="18" charset="0"/>
              </a:rPr>
              <a:t>supply_utilization</a:t>
            </a: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 types: 23 numerical columns (prices, market values, volumes, and percentage changes) and 7 object-type columns (id, symbol, name, image, </a:t>
            </a:r>
            <a:r>
              <a:rPr lang="en-IN" dirty="0" err="1">
                <a:latin typeface="Times New Roman" panose="02020603050405020304" pitchFamily="18" charset="0"/>
                <a:cs typeface="Times New Roman" panose="02020603050405020304" pitchFamily="18" charset="0"/>
              </a:rPr>
              <a:t>ath_date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atl_date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last_updated</a:t>
            </a:r>
            <a:r>
              <a:rPr lang="en-IN"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Most object-type columns act as unique identifiers rather than true categorical features.</a:t>
            </a:r>
          </a:p>
          <a:p>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825E4C3-9F11-831D-3B8A-700C359379D4}"/>
              </a:ext>
            </a:extLst>
          </p:cNvPr>
          <p:cNvSpPr txBox="1"/>
          <p:nvPr/>
        </p:nvSpPr>
        <p:spPr>
          <a:xfrm>
            <a:off x="4108244" y="570271"/>
            <a:ext cx="4277361"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  DATASET OVERVIEW</a:t>
            </a:r>
          </a:p>
        </p:txBody>
      </p:sp>
    </p:spTree>
    <p:extLst>
      <p:ext uri="{BB962C8B-B14F-4D97-AF65-F5344CB8AC3E}">
        <p14:creationId xmlns:p14="http://schemas.microsoft.com/office/powerpoint/2010/main" val="2158200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064992E-1DF8-83E7-A72E-53BECB324C69}"/>
              </a:ext>
            </a:extLst>
          </p:cNvPr>
          <p:cNvSpPr txBox="1"/>
          <p:nvPr/>
        </p:nvSpPr>
        <p:spPr>
          <a:xfrm>
            <a:off x="898192" y="540774"/>
            <a:ext cx="8049163"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Simple description of each column in your dataset:</a:t>
            </a:r>
            <a:endParaRPr lang="en-IN" sz="28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1B7D83B-6949-0AB9-45B5-E1F752D0F3C3}"/>
              </a:ext>
            </a:extLst>
          </p:cNvPr>
          <p:cNvSpPr txBox="1"/>
          <p:nvPr/>
        </p:nvSpPr>
        <p:spPr>
          <a:xfrm>
            <a:off x="898192" y="1225689"/>
            <a:ext cx="8688260" cy="5632311"/>
          </a:xfrm>
          <a:prstGeom prst="rect">
            <a:avLst/>
          </a:prstGeom>
          <a:noFill/>
        </p:spPr>
        <p:txBody>
          <a:bodyPr wrap="square" rtlCol="0">
            <a:spAutoFit/>
          </a:bodyPr>
          <a:lstStyle/>
          <a:p>
            <a:pPr marL="285750" indent="-285750"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Id : </a:t>
            </a:r>
            <a:r>
              <a:rPr lang="en-US" dirty="0" err="1">
                <a:latin typeface="Times New Roman" panose="02020603050405020304" pitchFamily="18" charset="0"/>
                <a:cs typeface="Times New Roman" panose="02020603050405020304" pitchFamily="18" charset="0"/>
              </a:rPr>
              <a:t>CoinGecko</a:t>
            </a:r>
            <a:r>
              <a:rPr lang="en-US" dirty="0">
                <a:latin typeface="Times New Roman" panose="02020603050405020304" pitchFamily="18" charset="0"/>
                <a:cs typeface="Times New Roman" panose="02020603050405020304" pitchFamily="18" charset="0"/>
              </a:rPr>
              <a:t> unique identifier for the cryptocurrency.</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Symbol : </a:t>
            </a:r>
            <a:r>
              <a:rPr lang="en-US" dirty="0">
                <a:latin typeface="Times New Roman" panose="02020603050405020304" pitchFamily="18" charset="0"/>
                <a:cs typeface="Times New Roman" panose="02020603050405020304" pitchFamily="18" charset="0"/>
              </a:rPr>
              <a:t>Trading symbol/ticker (e.g., BTC, ETH, BNB).</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Name : </a:t>
            </a:r>
            <a:r>
              <a:rPr lang="en-US" dirty="0">
                <a:latin typeface="Times New Roman" panose="02020603050405020304" pitchFamily="18" charset="0"/>
                <a:cs typeface="Times New Roman" panose="02020603050405020304" pitchFamily="18" charset="0"/>
              </a:rPr>
              <a:t>Full name of the cryptocurrency.</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market_cap_rank</a:t>
            </a:r>
            <a:r>
              <a:rPr lang="en-US"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Ranking position by market capitalization (1 = highest).</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current_price</a:t>
            </a:r>
            <a:r>
              <a:rPr lang="en-US"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Current price in USD.</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market_cap</a:t>
            </a:r>
            <a:r>
              <a:rPr lang="en-US"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Total market capitalization (price × circulating supply) in USD.</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fully_diluted_valuation</a:t>
            </a:r>
            <a:r>
              <a:rPr lang="en-US"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Market cap if max supply was in circulation, in USD.</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total_volume</a:t>
            </a:r>
            <a:r>
              <a:rPr lang="en-US"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Total 24-hour trading volume across all exchanges in USD.</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high_24h : </a:t>
            </a:r>
            <a:r>
              <a:rPr lang="en-US" dirty="0">
                <a:latin typeface="Times New Roman" panose="02020603050405020304" pitchFamily="18" charset="0"/>
                <a:cs typeface="Times New Roman" panose="02020603050405020304" pitchFamily="18" charset="0"/>
              </a:rPr>
              <a:t>Highest price in the last 24 hours in USD.</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low_24h : </a:t>
            </a:r>
            <a:r>
              <a:rPr lang="en-US" dirty="0">
                <a:latin typeface="Times New Roman" panose="02020603050405020304" pitchFamily="18" charset="0"/>
                <a:cs typeface="Times New Roman" panose="02020603050405020304" pitchFamily="18" charset="0"/>
              </a:rPr>
              <a:t>Lowest price in the last 24 hours in USD.</a:t>
            </a:r>
          </a:p>
          <a:p>
            <a:endParaRPr lang="en-IN" dirty="0"/>
          </a:p>
        </p:txBody>
      </p:sp>
    </p:spTree>
    <p:extLst>
      <p:ext uri="{BB962C8B-B14F-4D97-AF65-F5344CB8AC3E}">
        <p14:creationId xmlns:p14="http://schemas.microsoft.com/office/powerpoint/2010/main" val="3654820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99B9A6-D681-AE9F-E449-D2485CFDA24E}"/>
              </a:ext>
            </a:extLst>
          </p:cNvPr>
          <p:cNvSpPr txBox="1"/>
          <p:nvPr/>
        </p:nvSpPr>
        <p:spPr>
          <a:xfrm>
            <a:off x="999396" y="1012723"/>
            <a:ext cx="8917858" cy="5632311"/>
          </a:xfrm>
          <a:prstGeom prst="rect">
            <a:avLst/>
          </a:prstGeom>
          <a:noFill/>
        </p:spPr>
        <p:txBody>
          <a:bodyPr wrap="square" rtlCol="0">
            <a:spAutoFit/>
          </a:bodyPr>
          <a:lstStyle/>
          <a:p>
            <a:pPr marL="285750" indent="-285750" fontAlgn="base">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circulating_supply</a:t>
            </a:r>
            <a:r>
              <a:rPr lang="en-US"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Number of coins currently in circulation.</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total_supply</a:t>
            </a:r>
            <a:r>
              <a:rPr lang="en-US"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Total number of coins that have been created.</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max_supply</a:t>
            </a:r>
            <a:r>
              <a:rPr lang="en-US"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Maximum number of coins that will ever exist (null if infinite).</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Ath : </a:t>
            </a:r>
            <a:r>
              <a:rPr lang="en-US" dirty="0">
                <a:latin typeface="Times New Roman" panose="02020603050405020304" pitchFamily="18" charset="0"/>
                <a:cs typeface="Times New Roman" panose="02020603050405020304" pitchFamily="18" charset="0"/>
              </a:rPr>
              <a:t>All-time high price in USD.</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ath_change_percentage</a:t>
            </a:r>
            <a:r>
              <a:rPr lang="en-US"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Percentage change from all-time high (negative value).</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ath_date</a:t>
            </a:r>
            <a:r>
              <a:rPr lang="en-US"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Date when all-time high was reached (ISO format).</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Atl</a:t>
            </a:r>
            <a:r>
              <a:rPr lang="en-US"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All-time low price in USD.</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atl_change_percentage</a:t>
            </a:r>
            <a:r>
              <a:rPr lang="en-US"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Percentage change from all-time low (positive value).</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atl_date</a:t>
            </a:r>
            <a:r>
              <a:rPr lang="en-US"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Date when all-time low was reached (ISO format).</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price_change_24h : </a:t>
            </a:r>
            <a:r>
              <a:rPr lang="en-US" dirty="0">
                <a:latin typeface="Times New Roman" panose="02020603050405020304" pitchFamily="18" charset="0"/>
                <a:cs typeface="Times New Roman" panose="02020603050405020304" pitchFamily="18" charset="0"/>
              </a:rPr>
              <a:t>Absolute price change in last 24 hours in USD.</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8216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20C257-B2B4-44AA-0C8A-4ECF6A43BA11}"/>
              </a:ext>
            </a:extLst>
          </p:cNvPr>
          <p:cNvSpPr txBox="1"/>
          <p:nvPr/>
        </p:nvSpPr>
        <p:spPr>
          <a:xfrm>
            <a:off x="936909" y="530942"/>
            <a:ext cx="9222658" cy="5632311"/>
          </a:xfrm>
          <a:prstGeom prst="rect">
            <a:avLst/>
          </a:prstGeom>
          <a:noFill/>
        </p:spPr>
        <p:txBody>
          <a:bodyPr wrap="square" rtlCol="0">
            <a:spAutoFit/>
          </a:bodyPr>
          <a:lstStyle/>
          <a:p>
            <a:pPr marL="285750" indent="-285750" fontAlgn="base">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price_change_percentage_24h : </a:t>
            </a:r>
            <a:r>
              <a:rPr lang="en-US" dirty="0">
                <a:latin typeface="Times New Roman" panose="02020603050405020304" pitchFamily="18" charset="0"/>
                <a:cs typeface="Times New Roman" panose="02020603050405020304" pitchFamily="18" charset="0"/>
              </a:rPr>
              <a:t>Percentage price change in last 24 hours.</a:t>
            </a:r>
          </a:p>
          <a:p>
            <a:pPr fontAlgn="base"/>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a:t>price_change_percentage_1h : </a:t>
            </a:r>
            <a:r>
              <a:rPr lang="en-US" dirty="0"/>
              <a:t>Percentage price change in last 1 hour</a:t>
            </a:r>
          </a:p>
          <a:p>
            <a:pPr marL="285750" indent="-285750" fontAlgn="base">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price_change_percentage_7d : </a:t>
            </a:r>
            <a:r>
              <a:rPr lang="en-US" dirty="0">
                <a:latin typeface="Times New Roman" panose="02020603050405020304" pitchFamily="18" charset="0"/>
                <a:cs typeface="Times New Roman" panose="02020603050405020304" pitchFamily="18" charset="0"/>
              </a:rPr>
              <a:t>Percentage price change in last 7 days.</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price_change_percentage_30d : </a:t>
            </a:r>
            <a:r>
              <a:rPr lang="en-US" dirty="0">
                <a:latin typeface="Times New Roman" panose="02020603050405020304" pitchFamily="18" charset="0"/>
                <a:cs typeface="Times New Roman" panose="02020603050405020304" pitchFamily="18" charset="0"/>
              </a:rPr>
              <a:t>Percentage price change in last 30 days.</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price_change_percentage_1y : </a:t>
            </a:r>
            <a:r>
              <a:rPr lang="en-US" dirty="0">
                <a:latin typeface="Times New Roman" panose="02020603050405020304" pitchFamily="18" charset="0"/>
                <a:cs typeface="Times New Roman" panose="02020603050405020304" pitchFamily="18" charset="0"/>
              </a:rPr>
              <a:t>Percentage price change in last 1 year.</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market_cap_change_24h : </a:t>
            </a:r>
            <a:r>
              <a:rPr lang="en-US" dirty="0">
                <a:latin typeface="Times New Roman" panose="02020603050405020304" pitchFamily="18" charset="0"/>
                <a:cs typeface="Times New Roman" panose="02020603050405020304" pitchFamily="18" charset="0"/>
              </a:rPr>
              <a:t>Absolute market cap change in last 24 hours in USD.</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market_cap_change_percentage_24h : </a:t>
            </a:r>
            <a:r>
              <a:rPr lang="en-US" dirty="0">
                <a:latin typeface="Times New Roman" panose="02020603050405020304" pitchFamily="18" charset="0"/>
                <a:cs typeface="Times New Roman" panose="02020603050405020304" pitchFamily="18" charset="0"/>
              </a:rPr>
              <a:t>Percentage market cap change in last 24 hours.</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last_updated</a:t>
            </a:r>
            <a:r>
              <a:rPr lang="en-US"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Timestamp when data was last updated (ISO format).</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Image : </a:t>
            </a:r>
            <a:r>
              <a:rPr lang="en-US" dirty="0">
                <a:latin typeface="Times New Roman" panose="02020603050405020304" pitchFamily="18" charset="0"/>
                <a:cs typeface="Times New Roman" panose="02020603050405020304" pitchFamily="18" charset="0"/>
              </a:rPr>
              <a:t>URL to cryptocurrency logo/icon image.</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IN" b="1" dirty="0" err="1">
                <a:latin typeface="Times New Roman" panose="02020603050405020304" pitchFamily="18" charset="0"/>
                <a:cs typeface="Times New Roman" panose="02020603050405020304" pitchFamily="18" charset="0"/>
              </a:rPr>
              <a:t>supply_utilization</a:t>
            </a:r>
            <a:r>
              <a:rPr lang="en-IN" b="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Percentage of circulating supply vs total supply.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6139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58D6ED-372B-E9D2-EB0F-245375D32F0B}"/>
              </a:ext>
            </a:extLst>
          </p:cNvPr>
          <p:cNvSpPr txBox="1"/>
          <p:nvPr/>
        </p:nvSpPr>
        <p:spPr>
          <a:xfrm>
            <a:off x="3960328" y="150767"/>
            <a:ext cx="4645192"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READING DATASET</a:t>
            </a:r>
          </a:p>
        </p:txBody>
      </p:sp>
      <p:pic>
        <p:nvPicPr>
          <p:cNvPr id="7" name="Picture 6" descr="A screenshot of a computer&#10;&#10;AI-generated content may be incorrect.">
            <a:extLst>
              <a:ext uri="{FF2B5EF4-FFF2-40B4-BE49-F238E27FC236}">
                <a16:creationId xmlns:a16="http://schemas.microsoft.com/office/drawing/2014/main" id="{A6A20CAA-E684-7FB6-E22A-63DA16669CC0}"/>
              </a:ext>
            </a:extLst>
          </p:cNvPr>
          <p:cNvPicPr>
            <a:picLocks noChangeAspect="1"/>
          </p:cNvPicPr>
          <p:nvPr/>
        </p:nvPicPr>
        <p:blipFill>
          <a:blip r:embed="rId2"/>
          <a:stretch>
            <a:fillRect/>
          </a:stretch>
        </p:blipFill>
        <p:spPr>
          <a:xfrm>
            <a:off x="1064728" y="775289"/>
            <a:ext cx="8464223" cy="5307422"/>
          </a:xfrm>
          <a:prstGeom prst="rect">
            <a:avLst/>
          </a:prstGeom>
        </p:spPr>
      </p:pic>
    </p:spTree>
    <p:extLst>
      <p:ext uri="{BB962C8B-B14F-4D97-AF65-F5344CB8AC3E}">
        <p14:creationId xmlns:p14="http://schemas.microsoft.com/office/powerpoint/2010/main" val="3758016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D9980C-F259-A07E-88E1-FE640EF09788}"/>
              </a:ext>
            </a:extLst>
          </p:cNvPr>
          <p:cNvSpPr txBox="1"/>
          <p:nvPr/>
        </p:nvSpPr>
        <p:spPr>
          <a:xfrm>
            <a:off x="4510497" y="624205"/>
            <a:ext cx="3628103"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BASIC CHECKS</a:t>
            </a:r>
          </a:p>
        </p:txBody>
      </p:sp>
      <p:pic>
        <p:nvPicPr>
          <p:cNvPr id="6" name="Picture 5" descr="A screenshot of a computer code&#10;&#10;AI-generated content may be incorrect.">
            <a:extLst>
              <a:ext uri="{FF2B5EF4-FFF2-40B4-BE49-F238E27FC236}">
                <a16:creationId xmlns:a16="http://schemas.microsoft.com/office/drawing/2014/main" id="{9433AF60-56CA-65C7-7A5B-7394F8BE78F0}"/>
              </a:ext>
            </a:extLst>
          </p:cNvPr>
          <p:cNvPicPr>
            <a:picLocks noChangeAspect="1"/>
          </p:cNvPicPr>
          <p:nvPr/>
        </p:nvPicPr>
        <p:blipFill>
          <a:blip r:embed="rId2"/>
          <a:stretch>
            <a:fillRect/>
          </a:stretch>
        </p:blipFill>
        <p:spPr>
          <a:xfrm>
            <a:off x="1037348" y="1701637"/>
            <a:ext cx="7722977" cy="4090218"/>
          </a:xfrm>
          <a:prstGeom prst="rect">
            <a:avLst/>
          </a:prstGeom>
        </p:spPr>
      </p:pic>
    </p:spTree>
    <p:extLst>
      <p:ext uri="{BB962C8B-B14F-4D97-AF65-F5344CB8AC3E}">
        <p14:creationId xmlns:p14="http://schemas.microsoft.com/office/powerpoint/2010/main" val="3956863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D49F6B64-377E-5B01-472B-21F424CA51F1}"/>
              </a:ext>
            </a:extLst>
          </p:cNvPr>
          <p:cNvPicPr>
            <a:picLocks noChangeAspect="1"/>
          </p:cNvPicPr>
          <p:nvPr/>
        </p:nvPicPr>
        <p:blipFill>
          <a:blip r:embed="rId2"/>
          <a:srcRect b="4845"/>
          <a:stretch>
            <a:fillRect/>
          </a:stretch>
        </p:blipFill>
        <p:spPr>
          <a:xfrm>
            <a:off x="353961" y="190832"/>
            <a:ext cx="11298227" cy="3879724"/>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B4917786-97C4-E230-D4DF-3636F18645A8}"/>
              </a:ext>
            </a:extLst>
          </p:cNvPr>
          <p:cNvPicPr>
            <a:picLocks noChangeAspect="1"/>
          </p:cNvPicPr>
          <p:nvPr/>
        </p:nvPicPr>
        <p:blipFill>
          <a:blip r:embed="rId3"/>
          <a:srcRect t="4073" r="4862" b="7553"/>
          <a:stretch>
            <a:fillRect/>
          </a:stretch>
        </p:blipFill>
        <p:spPr>
          <a:xfrm>
            <a:off x="353961" y="4178711"/>
            <a:ext cx="8444533" cy="1930742"/>
          </a:xfrm>
          <a:prstGeom prst="rect">
            <a:avLst/>
          </a:prstGeom>
        </p:spPr>
      </p:pic>
    </p:spTree>
    <p:extLst>
      <p:ext uri="{BB962C8B-B14F-4D97-AF65-F5344CB8AC3E}">
        <p14:creationId xmlns:p14="http://schemas.microsoft.com/office/powerpoint/2010/main" val="1296602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D676B4DA-8794-1FC9-C7A5-DCC76C74D2D6}"/>
              </a:ext>
            </a:extLst>
          </p:cNvPr>
          <p:cNvPicPr>
            <a:picLocks noChangeAspect="1"/>
          </p:cNvPicPr>
          <p:nvPr/>
        </p:nvPicPr>
        <p:blipFill>
          <a:blip r:embed="rId2"/>
          <a:stretch>
            <a:fillRect/>
          </a:stretch>
        </p:blipFill>
        <p:spPr>
          <a:xfrm>
            <a:off x="247047" y="195794"/>
            <a:ext cx="5023707" cy="6466412"/>
          </a:xfrm>
          <a:prstGeom prst="rect">
            <a:avLst/>
          </a:prstGeom>
        </p:spPr>
      </p:pic>
    </p:spTree>
    <p:extLst>
      <p:ext uri="{BB962C8B-B14F-4D97-AF65-F5344CB8AC3E}">
        <p14:creationId xmlns:p14="http://schemas.microsoft.com/office/powerpoint/2010/main" val="1681450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CE7B80-2117-0866-8D0A-3C56AEC6611B}"/>
              </a:ext>
            </a:extLst>
          </p:cNvPr>
          <p:cNvSpPr txBox="1"/>
          <p:nvPr/>
        </p:nvSpPr>
        <p:spPr>
          <a:xfrm>
            <a:off x="975360" y="353961"/>
            <a:ext cx="10589378"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PREPROCESSING TECHNIQUES ON INDIVIDUAL COLUMNS</a:t>
            </a:r>
          </a:p>
        </p:txBody>
      </p:sp>
      <p:pic>
        <p:nvPicPr>
          <p:cNvPr id="5" name="Picture 4" descr="A screenshot of a computer&#10;&#10;AI-generated content may be incorrect.">
            <a:extLst>
              <a:ext uri="{FF2B5EF4-FFF2-40B4-BE49-F238E27FC236}">
                <a16:creationId xmlns:a16="http://schemas.microsoft.com/office/drawing/2014/main" id="{EA3FD41B-A9A1-49D1-78A6-F285DEBA8C37}"/>
              </a:ext>
            </a:extLst>
          </p:cNvPr>
          <p:cNvPicPr>
            <a:picLocks noChangeAspect="1"/>
          </p:cNvPicPr>
          <p:nvPr/>
        </p:nvPicPr>
        <p:blipFill>
          <a:blip r:embed="rId2"/>
          <a:stretch>
            <a:fillRect/>
          </a:stretch>
        </p:blipFill>
        <p:spPr>
          <a:xfrm>
            <a:off x="627262" y="919980"/>
            <a:ext cx="4467849" cy="5677692"/>
          </a:xfrm>
          <a:prstGeom prst="rect">
            <a:avLst/>
          </a:prstGeom>
        </p:spPr>
      </p:pic>
      <p:sp>
        <p:nvSpPr>
          <p:cNvPr id="10" name="TextBox 9">
            <a:extLst>
              <a:ext uri="{FF2B5EF4-FFF2-40B4-BE49-F238E27FC236}">
                <a16:creationId xmlns:a16="http://schemas.microsoft.com/office/drawing/2014/main" id="{3C2F1F97-729C-EF0B-1224-D1E015DE27D2}"/>
              </a:ext>
            </a:extLst>
          </p:cNvPr>
          <p:cNvSpPr txBox="1"/>
          <p:nvPr/>
        </p:nvSpPr>
        <p:spPr>
          <a:xfrm>
            <a:off x="5683045" y="2133600"/>
            <a:ext cx="3864077" cy="1477328"/>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Missing Values: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Some columns have substantial missing data (</a:t>
            </a:r>
            <a:r>
              <a:rPr lang="en-US" dirty="0" err="1">
                <a:latin typeface="Times New Roman" panose="02020603050405020304" pitchFamily="18" charset="0"/>
                <a:cs typeface="Times New Roman" panose="02020603050405020304" pitchFamily="18" charset="0"/>
              </a:rPr>
              <a:t>max_supply</a:t>
            </a:r>
            <a:r>
              <a:rPr lang="en-US" dirty="0">
                <a:latin typeface="Times New Roman" panose="02020603050405020304" pitchFamily="18" charset="0"/>
                <a:cs typeface="Times New Roman" panose="02020603050405020304" pitchFamily="18" charset="0"/>
              </a:rPr>
              <a:t> 43.5%, price_change_percentage_1y 32.3%).</a:t>
            </a:r>
          </a:p>
          <a:p>
            <a:endParaRPr lang="en-IN" dirty="0"/>
          </a:p>
        </p:txBody>
      </p:sp>
    </p:spTree>
    <p:extLst>
      <p:ext uri="{BB962C8B-B14F-4D97-AF65-F5344CB8AC3E}">
        <p14:creationId xmlns:p14="http://schemas.microsoft.com/office/powerpoint/2010/main" val="116267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omputer code with text&#10;&#10;AI-generated content may be incorrect.">
            <a:extLst>
              <a:ext uri="{FF2B5EF4-FFF2-40B4-BE49-F238E27FC236}">
                <a16:creationId xmlns:a16="http://schemas.microsoft.com/office/drawing/2014/main" id="{2EC62388-9BE9-1338-F37A-A3C208DFA8C8}"/>
              </a:ext>
            </a:extLst>
          </p:cNvPr>
          <p:cNvPicPr>
            <a:picLocks noChangeAspect="1"/>
          </p:cNvPicPr>
          <p:nvPr/>
        </p:nvPicPr>
        <p:blipFill>
          <a:blip r:embed="rId2"/>
          <a:stretch>
            <a:fillRect/>
          </a:stretch>
        </p:blipFill>
        <p:spPr>
          <a:xfrm>
            <a:off x="636937" y="397225"/>
            <a:ext cx="4341209" cy="1852074"/>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47255713-83A6-7365-A778-B1B894FE46F6}"/>
              </a:ext>
            </a:extLst>
          </p:cNvPr>
          <p:cNvPicPr>
            <a:picLocks noChangeAspect="1"/>
          </p:cNvPicPr>
          <p:nvPr/>
        </p:nvPicPr>
        <p:blipFill>
          <a:blip r:embed="rId3"/>
          <a:stretch>
            <a:fillRect/>
          </a:stretch>
        </p:blipFill>
        <p:spPr>
          <a:xfrm>
            <a:off x="636937" y="2881372"/>
            <a:ext cx="3821545" cy="2862322"/>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061AED0B-E55D-C10A-489E-6B6833860A83}"/>
              </a:ext>
            </a:extLst>
          </p:cNvPr>
          <p:cNvPicPr>
            <a:picLocks noChangeAspect="1"/>
          </p:cNvPicPr>
          <p:nvPr/>
        </p:nvPicPr>
        <p:blipFill>
          <a:blip r:embed="rId4"/>
          <a:stretch>
            <a:fillRect/>
          </a:stretch>
        </p:blipFill>
        <p:spPr>
          <a:xfrm>
            <a:off x="5796962" y="483102"/>
            <a:ext cx="3432089" cy="5589639"/>
          </a:xfrm>
          <a:prstGeom prst="rect">
            <a:avLst/>
          </a:prstGeom>
        </p:spPr>
      </p:pic>
    </p:spTree>
    <p:extLst>
      <p:ext uri="{BB962C8B-B14F-4D97-AF65-F5344CB8AC3E}">
        <p14:creationId xmlns:p14="http://schemas.microsoft.com/office/powerpoint/2010/main" val="3698754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137BD40-656D-942A-62A8-534486BF9724}"/>
              </a:ext>
            </a:extLst>
          </p:cNvPr>
          <p:cNvSpPr txBox="1"/>
          <p:nvPr/>
        </p:nvSpPr>
        <p:spPr>
          <a:xfrm>
            <a:off x="722876" y="511465"/>
            <a:ext cx="10274300" cy="5632311"/>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Category Columns Distribution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Our dataset contains columns such as: id, symbol, name, image.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These columns have hundreds of unique values, their distribution looks like:</a:t>
            </a:r>
          </a:p>
          <a:p>
            <a:r>
              <a:rPr lang="en-US" dirty="0">
                <a:latin typeface="Times New Roman" panose="02020603050405020304" pitchFamily="18" charset="0"/>
                <a:cs typeface="Times New Roman" panose="02020603050405020304" pitchFamily="18" charset="0"/>
              </a:rPr>
              <a:t>              No dominant category.</a:t>
            </a:r>
          </a:p>
          <a:p>
            <a:r>
              <a:rPr lang="en-US" dirty="0">
                <a:latin typeface="Times New Roman" panose="02020603050405020304" pitchFamily="18" charset="0"/>
                <a:cs typeface="Times New Roman" panose="02020603050405020304" pitchFamily="18" charset="0"/>
              </a:rPr>
              <a:t>              Most categories occur only once.</a:t>
            </a:r>
          </a:p>
          <a:p>
            <a:r>
              <a:rPr lang="en-US" dirty="0">
                <a:latin typeface="Times New Roman" panose="02020603050405020304" pitchFamily="18" charset="0"/>
                <a:cs typeface="Times New Roman" panose="02020603050405020304" pitchFamily="18" charset="0"/>
              </a:rPr>
              <a:t>              These columns act more like identifiers rather than useful categorical features.</a:t>
            </a: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Datetime Columns Stored as Text</a:t>
            </a:r>
          </a:p>
          <a:p>
            <a:r>
              <a:rPr lang="en-US" dirty="0">
                <a:latin typeface="Times New Roman" panose="02020603050405020304" pitchFamily="18" charset="0"/>
                <a:cs typeface="Times New Roman" panose="02020603050405020304" pitchFamily="18" charset="0"/>
              </a:rPr>
              <a:t>     Columns: </a:t>
            </a:r>
            <a:r>
              <a:rPr lang="en-US" dirty="0" err="1">
                <a:latin typeface="Times New Roman" panose="02020603050405020304" pitchFamily="18" charset="0"/>
                <a:cs typeface="Times New Roman" panose="02020603050405020304" pitchFamily="18" charset="0"/>
              </a:rPr>
              <a:t>ath_date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atl_date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last_updated</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Currently stored as strings/text, not as proper datetime format.</a:t>
            </a:r>
          </a:p>
          <a:p>
            <a:r>
              <a:rPr lang="en-US" dirty="0">
                <a:latin typeface="Times New Roman" panose="02020603050405020304" pitchFamily="18" charset="0"/>
                <a:cs typeface="Times New Roman" panose="02020603050405020304" pitchFamily="18" charset="0"/>
              </a:rPr>
              <a:t>     Need conversion to datetime for analysis and time-based operations.</a:t>
            </a: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Outliers</a:t>
            </a:r>
            <a:endParaRPr lang="en-US" sz="2400"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We have Some extreme value in Numeric columns like:- </a:t>
            </a:r>
            <a:r>
              <a:rPr lang="en-US" dirty="0" err="1">
                <a:latin typeface="Times New Roman" panose="02020603050405020304" pitchFamily="18" charset="0"/>
                <a:cs typeface="Times New Roman" panose="02020603050405020304" pitchFamily="18" charset="0"/>
              </a:rPr>
              <a:t>market_cap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current_price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total_volume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price_change_percentage_24h, price_change_percentage_7d.</a:t>
            </a: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few coins (ex: Bitcoin, Ethereum) have extremely large values compared to small-cap </a:t>
            </a:r>
            <a:r>
              <a:rPr lang="en-US" dirty="0" err="1">
                <a:latin typeface="Times New Roman" panose="02020603050405020304" pitchFamily="18" charset="0"/>
                <a:cs typeface="Times New Roman" panose="02020603050405020304" pitchFamily="18" charset="0"/>
              </a:rPr>
              <a:t>coins.This</a:t>
            </a:r>
            <a:r>
              <a:rPr lang="en-US" dirty="0">
                <a:latin typeface="Times New Roman" panose="02020603050405020304" pitchFamily="18" charset="0"/>
                <a:cs typeface="Times New Roman" panose="02020603050405020304" pitchFamily="18" charset="0"/>
              </a:rPr>
              <a:t> creates heavy right-skewed distributions.</a:t>
            </a: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3684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E55057-CF1B-546D-435A-73B646CDD6D1}"/>
              </a:ext>
            </a:extLst>
          </p:cNvPr>
          <p:cNvSpPr txBox="1"/>
          <p:nvPr/>
        </p:nvSpPr>
        <p:spPr>
          <a:xfrm>
            <a:off x="2591127" y="465666"/>
            <a:ext cx="6948009"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DATA CLEANING AND MANIPULATION</a:t>
            </a:r>
          </a:p>
        </p:txBody>
      </p:sp>
      <p:sp>
        <p:nvSpPr>
          <p:cNvPr id="9" name="TextBox 8">
            <a:extLst>
              <a:ext uri="{FF2B5EF4-FFF2-40B4-BE49-F238E27FC236}">
                <a16:creationId xmlns:a16="http://schemas.microsoft.com/office/drawing/2014/main" id="{C3E4DB25-10FA-57A3-6021-E212B1DF864E}"/>
              </a:ext>
            </a:extLst>
          </p:cNvPr>
          <p:cNvSpPr txBox="1"/>
          <p:nvPr/>
        </p:nvSpPr>
        <p:spPr>
          <a:xfrm>
            <a:off x="6292644" y="1366684"/>
            <a:ext cx="4275053" cy="1200329"/>
          </a:xfrm>
          <a:prstGeom prst="rect">
            <a:avLst/>
          </a:prstGeom>
          <a:noFill/>
        </p:spPr>
        <p:txBody>
          <a:bodyPr wrap="square">
            <a:spAutoFit/>
          </a:bodyPr>
          <a:lstStyle/>
          <a:p>
            <a:pPr marL="285750" indent="-28575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Contains image URLs → no analytical value </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 43.5% missing values → not helpful for analysis. Too incomplete.</a:t>
            </a:r>
            <a:endParaRPr lang="en-IN" dirty="0">
              <a:latin typeface="Times New Roman" panose="02020603050405020304" pitchFamily="18" charset="0"/>
              <a:cs typeface="Times New Roman" panose="02020603050405020304" pitchFamily="18" charset="0"/>
            </a:endParaRPr>
          </a:p>
        </p:txBody>
      </p:sp>
      <p:pic>
        <p:nvPicPr>
          <p:cNvPr id="11" name="Picture 10" descr="A screenshot of a computer&#10;&#10;AI-generated content may be incorrect.">
            <a:extLst>
              <a:ext uri="{FF2B5EF4-FFF2-40B4-BE49-F238E27FC236}">
                <a16:creationId xmlns:a16="http://schemas.microsoft.com/office/drawing/2014/main" id="{B105F515-E413-3AEA-D874-D006F40EA56E}"/>
              </a:ext>
            </a:extLst>
          </p:cNvPr>
          <p:cNvPicPr>
            <a:picLocks noChangeAspect="1"/>
          </p:cNvPicPr>
          <p:nvPr/>
        </p:nvPicPr>
        <p:blipFill>
          <a:blip r:embed="rId2"/>
          <a:stretch>
            <a:fillRect/>
          </a:stretch>
        </p:blipFill>
        <p:spPr>
          <a:xfrm>
            <a:off x="717755" y="1366684"/>
            <a:ext cx="4779190" cy="1582993"/>
          </a:xfrm>
          <a:prstGeom prst="rect">
            <a:avLst/>
          </a:prstGeom>
        </p:spPr>
      </p:pic>
      <p:pic>
        <p:nvPicPr>
          <p:cNvPr id="15" name="Picture 14" descr="A close up of a text&#10;&#10;AI-generated content may be incorrect.">
            <a:extLst>
              <a:ext uri="{FF2B5EF4-FFF2-40B4-BE49-F238E27FC236}">
                <a16:creationId xmlns:a16="http://schemas.microsoft.com/office/drawing/2014/main" id="{F5AA452F-CA35-BB01-D33D-8DB586435C31}"/>
              </a:ext>
            </a:extLst>
          </p:cNvPr>
          <p:cNvPicPr>
            <a:picLocks noChangeAspect="1"/>
          </p:cNvPicPr>
          <p:nvPr/>
        </p:nvPicPr>
        <p:blipFill>
          <a:blip r:embed="rId3"/>
          <a:stretch>
            <a:fillRect/>
          </a:stretch>
        </p:blipFill>
        <p:spPr>
          <a:xfrm>
            <a:off x="717755" y="3662250"/>
            <a:ext cx="8821381" cy="1257475"/>
          </a:xfrm>
          <a:prstGeom prst="rect">
            <a:avLst/>
          </a:prstGeom>
        </p:spPr>
      </p:pic>
      <p:sp>
        <p:nvSpPr>
          <p:cNvPr id="16" name="TextBox 15">
            <a:extLst>
              <a:ext uri="{FF2B5EF4-FFF2-40B4-BE49-F238E27FC236}">
                <a16:creationId xmlns:a16="http://schemas.microsoft.com/office/drawing/2014/main" id="{034D6449-0C45-0058-31CC-8056C77FDFA3}"/>
              </a:ext>
            </a:extLst>
          </p:cNvPr>
          <p:cNvSpPr txBox="1"/>
          <p:nvPr/>
        </p:nvSpPr>
        <p:spPr>
          <a:xfrm>
            <a:off x="717755" y="5152102"/>
            <a:ext cx="7413522" cy="1477328"/>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It’s a numeric column.</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Mean is not ideal due to missing values and potential outliers.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Median is used instead to fill missing values, as it is less affected by extreme values.</a:t>
            </a:r>
          </a:p>
          <a:p>
            <a:endParaRPr lang="en-US" dirty="0"/>
          </a:p>
        </p:txBody>
      </p:sp>
    </p:spTree>
    <p:extLst>
      <p:ext uri="{BB962C8B-B14F-4D97-AF65-F5344CB8AC3E}">
        <p14:creationId xmlns:p14="http://schemas.microsoft.com/office/powerpoint/2010/main" val="3358941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computer screen&#10;&#10;AI-generated content may be incorrect.">
            <a:extLst>
              <a:ext uri="{FF2B5EF4-FFF2-40B4-BE49-F238E27FC236}">
                <a16:creationId xmlns:a16="http://schemas.microsoft.com/office/drawing/2014/main" id="{529D210A-92A5-1634-2B90-848552FBE152}"/>
              </a:ext>
            </a:extLst>
          </p:cNvPr>
          <p:cNvPicPr>
            <a:picLocks noChangeAspect="1"/>
          </p:cNvPicPr>
          <p:nvPr/>
        </p:nvPicPr>
        <p:blipFill>
          <a:blip r:embed="rId2"/>
          <a:stretch>
            <a:fillRect/>
          </a:stretch>
        </p:blipFill>
        <p:spPr>
          <a:xfrm>
            <a:off x="589880" y="3819196"/>
            <a:ext cx="7954680" cy="1772329"/>
          </a:xfrm>
          <a:prstGeom prst="rect">
            <a:avLst/>
          </a:prstGeom>
        </p:spPr>
      </p:pic>
      <p:sp>
        <p:nvSpPr>
          <p:cNvPr id="6" name="TextBox 5">
            <a:extLst>
              <a:ext uri="{FF2B5EF4-FFF2-40B4-BE49-F238E27FC236}">
                <a16:creationId xmlns:a16="http://schemas.microsoft.com/office/drawing/2014/main" id="{4EAEC9F7-93C2-406B-C64E-A919FE59BE62}"/>
              </a:ext>
            </a:extLst>
          </p:cNvPr>
          <p:cNvSpPr txBox="1"/>
          <p:nvPr/>
        </p:nvSpPr>
        <p:spPr>
          <a:xfrm>
            <a:off x="796413" y="5938684"/>
            <a:ext cx="7482348"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Even though they are identifiers and not categories, cleaning them (removing unwanted spaces and standardizing case) improves consistency.</a:t>
            </a:r>
            <a:endParaRPr lang="en-IN" dirty="0">
              <a:latin typeface="Times New Roman" panose="02020603050405020304" pitchFamily="18" charset="0"/>
              <a:cs typeface="Times New Roman" panose="02020603050405020304" pitchFamily="18" charset="0"/>
            </a:endParaRPr>
          </a:p>
        </p:txBody>
      </p:sp>
      <p:pic>
        <p:nvPicPr>
          <p:cNvPr id="4" name="Picture 3" descr="A screenshot of a computer program&#10;&#10;AI-generated content may be incorrect.">
            <a:extLst>
              <a:ext uri="{FF2B5EF4-FFF2-40B4-BE49-F238E27FC236}">
                <a16:creationId xmlns:a16="http://schemas.microsoft.com/office/drawing/2014/main" id="{A6C2B747-E7FD-48C8-F007-B1CF1ED90EEC}"/>
              </a:ext>
            </a:extLst>
          </p:cNvPr>
          <p:cNvPicPr>
            <a:picLocks noChangeAspect="1"/>
          </p:cNvPicPr>
          <p:nvPr/>
        </p:nvPicPr>
        <p:blipFill>
          <a:blip r:embed="rId3"/>
          <a:srcRect t="14461" b="1"/>
          <a:stretch>
            <a:fillRect/>
          </a:stretch>
        </p:blipFill>
        <p:spPr>
          <a:xfrm>
            <a:off x="589880" y="778987"/>
            <a:ext cx="9107170" cy="2944173"/>
          </a:xfrm>
          <a:prstGeom prst="rect">
            <a:avLst/>
          </a:prstGeom>
        </p:spPr>
      </p:pic>
    </p:spTree>
    <p:extLst>
      <p:ext uri="{BB962C8B-B14F-4D97-AF65-F5344CB8AC3E}">
        <p14:creationId xmlns:p14="http://schemas.microsoft.com/office/powerpoint/2010/main" val="4109836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computer code&#10;&#10;AI-generated content may be incorrect.">
            <a:extLst>
              <a:ext uri="{FF2B5EF4-FFF2-40B4-BE49-F238E27FC236}">
                <a16:creationId xmlns:a16="http://schemas.microsoft.com/office/drawing/2014/main" id="{66C5F141-FC37-9811-1861-3222E95D2B48}"/>
              </a:ext>
            </a:extLst>
          </p:cNvPr>
          <p:cNvPicPr>
            <a:picLocks noChangeAspect="1"/>
          </p:cNvPicPr>
          <p:nvPr/>
        </p:nvPicPr>
        <p:blipFill>
          <a:blip r:embed="rId2"/>
          <a:stretch>
            <a:fillRect/>
          </a:stretch>
        </p:blipFill>
        <p:spPr>
          <a:xfrm>
            <a:off x="540302" y="349045"/>
            <a:ext cx="6726209" cy="1495493"/>
          </a:xfrm>
          <a:prstGeom prst="rect">
            <a:avLst/>
          </a:prstGeom>
        </p:spPr>
      </p:pic>
      <p:sp>
        <p:nvSpPr>
          <p:cNvPr id="5" name="TextBox 4">
            <a:extLst>
              <a:ext uri="{FF2B5EF4-FFF2-40B4-BE49-F238E27FC236}">
                <a16:creationId xmlns:a16="http://schemas.microsoft.com/office/drawing/2014/main" id="{EEBB1A7D-E994-1EEC-6A08-A59203EFDA58}"/>
              </a:ext>
            </a:extLst>
          </p:cNvPr>
          <p:cNvSpPr txBox="1"/>
          <p:nvPr/>
        </p:nvSpPr>
        <p:spPr>
          <a:xfrm>
            <a:off x="613020" y="2166565"/>
            <a:ext cx="9557899" cy="372326"/>
          </a:xfrm>
          <a:prstGeom prst="rect">
            <a:avLst/>
          </a:prstGeom>
          <a:noFill/>
        </p:spPr>
        <p:txBody>
          <a:bodyPr wrap="square">
            <a:spAutoFit/>
          </a:bodyPr>
          <a:lstStyle/>
          <a:p>
            <a:pPr marL="28575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ath_date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atl_date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last_updated</a:t>
            </a:r>
            <a:r>
              <a:rPr lang="en-US" dirty="0">
                <a:latin typeface="Times New Roman" panose="02020603050405020304" pitchFamily="18" charset="0"/>
                <a:cs typeface="Times New Roman" panose="02020603050405020304" pitchFamily="18" charset="0"/>
              </a:rPr>
              <a:t> → converted to datetime for proper time-based analysis.</a:t>
            </a:r>
            <a:endParaRPr lang="en-IN" dirty="0">
              <a:latin typeface="Times New Roman" panose="02020603050405020304" pitchFamily="18" charset="0"/>
              <a:cs typeface="Times New Roman" panose="02020603050405020304" pitchFamily="18" charset="0"/>
            </a:endParaRPr>
          </a:p>
        </p:txBody>
      </p:sp>
      <p:pic>
        <p:nvPicPr>
          <p:cNvPr id="7" name="Picture 6" descr="A screenshot of a computer&#10;&#10;AI-generated content may be incorrect.">
            <a:extLst>
              <a:ext uri="{FF2B5EF4-FFF2-40B4-BE49-F238E27FC236}">
                <a16:creationId xmlns:a16="http://schemas.microsoft.com/office/drawing/2014/main" id="{8DD74E2E-0865-A8E1-312A-CF1C55C86C41}"/>
              </a:ext>
            </a:extLst>
          </p:cNvPr>
          <p:cNvPicPr>
            <a:picLocks noChangeAspect="1"/>
          </p:cNvPicPr>
          <p:nvPr/>
        </p:nvPicPr>
        <p:blipFill>
          <a:blip r:embed="rId3"/>
          <a:stretch>
            <a:fillRect/>
          </a:stretch>
        </p:blipFill>
        <p:spPr>
          <a:xfrm>
            <a:off x="607079" y="2959241"/>
            <a:ext cx="4784890" cy="2040948"/>
          </a:xfrm>
          <a:prstGeom prst="rect">
            <a:avLst/>
          </a:prstGeom>
        </p:spPr>
      </p:pic>
      <p:sp>
        <p:nvSpPr>
          <p:cNvPr id="9" name="TextBox 8">
            <a:extLst>
              <a:ext uri="{FF2B5EF4-FFF2-40B4-BE49-F238E27FC236}">
                <a16:creationId xmlns:a16="http://schemas.microsoft.com/office/drawing/2014/main" id="{43779E38-F366-1C4B-B4D9-B4A14FF4B6A1}"/>
              </a:ext>
            </a:extLst>
          </p:cNvPr>
          <p:cNvSpPr txBox="1"/>
          <p:nvPr/>
        </p:nvSpPr>
        <p:spPr>
          <a:xfrm>
            <a:off x="540302" y="5235873"/>
            <a:ext cx="6096000" cy="369332"/>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Ensures no repeated rows, maintaining data integrity.</a:t>
            </a:r>
          </a:p>
        </p:txBody>
      </p:sp>
    </p:spTree>
    <p:extLst>
      <p:ext uri="{BB962C8B-B14F-4D97-AF65-F5344CB8AC3E}">
        <p14:creationId xmlns:p14="http://schemas.microsoft.com/office/powerpoint/2010/main" val="322737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5807AF-EB57-3CF7-2722-CC0BE2EAC2B1}"/>
              </a:ext>
            </a:extLst>
          </p:cNvPr>
          <p:cNvSpPr txBox="1"/>
          <p:nvPr/>
        </p:nvSpPr>
        <p:spPr>
          <a:xfrm>
            <a:off x="3425915" y="113962"/>
            <a:ext cx="4670322"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AFTER PREPROCESSING</a:t>
            </a:r>
          </a:p>
        </p:txBody>
      </p:sp>
      <p:pic>
        <p:nvPicPr>
          <p:cNvPr id="4" name="Picture 3" descr="A screenshot of a computer&#10;&#10;AI-generated content may be incorrect.">
            <a:extLst>
              <a:ext uri="{FF2B5EF4-FFF2-40B4-BE49-F238E27FC236}">
                <a16:creationId xmlns:a16="http://schemas.microsoft.com/office/drawing/2014/main" id="{FEDA41B0-C103-218B-8D0A-2C54A016469A}"/>
              </a:ext>
            </a:extLst>
          </p:cNvPr>
          <p:cNvPicPr>
            <a:picLocks noChangeAspect="1"/>
          </p:cNvPicPr>
          <p:nvPr/>
        </p:nvPicPr>
        <p:blipFill>
          <a:blip r:embed="rId2"/>
          <a:stretch>
            <a:fillRect/>
          </a:stretch>
        </p:blipFill>
        <p:spPr>
          <a:xfrm>
            <a:off x="707923" y="982024"/>
            <a:ext cx="2704432" cy="1373455"/>
          </a:xfrm>
          <a:prstGeom prst="rect">
            <a:avLst/>
          </a:prstGeom>
        </p:spPr>
      </p:pic>
      <p:sp>
        <p:nvSpPr>
          <p:cNvPr id="6" name="TextBox 5">
            <a:extLst>
              <a:ext uri="{FF2B5EF4-FFF2-40B4-BE49-F238E27FC236}">
                <a16:creationId xmlns:a16="http://schemas.microsoft.com/office/drawing/2014/main" id="{EACD4DBB-DD4F-C2C4-E839-C17EEB19C6CC}"/>
              </a:ext>
            </a:extLst>
          </p:cNvPr>
          <p:cNvSpPr txBox="1"/>
          <p:nvPr/>
        </p:nvSpPr>
        <p:spPr>
          <a:xfrm>
            <a:off x="707923" y="2647025"/>
            <a:ext cx="3650717"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Dataset size updated after cleaning.</a:t>
            </a:r>
            <a:endParaRPr lang="en-IN" dirty="0">
              <a:latin typeface="Times New Roman" panose="02020603050405020304" pitchFamily="18" charset="0"/>
              <a:cs typeface="Times New Roman" panose="02020603050405020304" pitchFamily="18" charset="0"/>
            </a:endParaRPr>
          </a:p>
        </p:txBody>
      </p:sp>
      <p:pic>
        <p:nvPicPr>
          <p:cNvPr id="10" name="Picture 9" descr="A screenshot of a computer program&#10;&#10;AI-generated content may be incorrect.">
            <a:extLst>
              <a:ext uri="{FF2B5EF4-FFF2-40B4-BE49-F238E27FC236}">
                <a16:creationId xmlns:a16="http://schemas.microsoft.com/office/drawing/2014/main" id="{16E47369-832D-090C-4CB0-460A75F827DB}"/>
              </a:ext>
            </a:extLst>
          </p:cNvPr>
          <p:cNvPicPr>
            <a:picLocks noChangeAspect="1"/>
          </p:cNvPicPr>
          <p:nvPr/>
        </p:nvPicPr>
        <p:blipFill>
          <a:blip r:embed="rId3"/>
          <a:srcRect l="2660" t="1093" r="4198" b="1366"/>
          <a:stretch>
            <a:fillRect/>
          </a:stretch>
        </p:blipFill>
        <p:spPr>
          <a:xfrm>
            <a:off x="4358640" y="732504"/>
            <a:ext cx="4078600" cy="5923936"/>
          </a:xfrm>
          <a:prstGeom prst="rect">
            <a:avLst/>
          </a:prstGeom>
        </p:spPr>
      </p:pic>
      <p:sp>
        <p:nvSpPr>
          <p:cNvPr id="12" name="TextBox 11">
            <a:extLst>
              <a:ext uri="{FF2B5EF4-FFF2-40B4-BE49-F238E27FC236}">
                <a16:creationId xmlns:a16="http://schemas.microsoft.com/office/drawing/2014/main" id="{8C613BCA-0DFD-7520-6D1E-51EFB74DAA1C}"/>
              </a:ext>
            </a:extLst>
          </p:cNvPr>
          <p:cNvSpPr txBox="1"/>
          <p:nvPr/>
        </p:nvSpPr>
        <p:spPr>
          <a:xfrm>
            <a:off x="8750709" y="2954196"/>
            <a:ext cx="3136491"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types were verified and corrected where required.</a:t>
            </a:r>
            <a:endParaRPr lang="en-IN" dirty="0">
              <a:latin typeface="Times New Roman" panose="02020603050405020304" pitchFamily="18" charset="0"/>
              <a:cs typeface="Times New Roman" panose="02020603050405020304" pitchFamily="18" charset="0"/>
            </a:endParaRPr>
          </a:p>
        </p:txBody>
      </p:sp>
      <p:pic>
        <p:nvPicPr>
          <p:cNvPr id="14" name="Picture 13" descr="A screenshot of a computer code&#10;&#10;AI-generated content may be incorrect.">
            <a:extLst>
              <a:ext uri="{FF2B5EF4-FFF2-40B4-BE49-F238E27FC236}">
                <a16:creationId xmlns:a16="http://schemas.microsoft.com/office/drawing/2014/main" id="{B43FB1A0-1C7A-49CF-C2C5-1094902A4F0A}"/>
              </a:ext>
            </a:extLst>
          </p:cNvPr>
          <p:cNvPicPr>
            <a:picLocks noChangeAspect="1"/>
          </p:cNvPicPr>
          <p:nvPr/>
        </p:nvPicPr>
        <p:blipFill>
          <a:blip r:embed="rId4"/>
          <a:stretch>
            <a:fillRect/>
          </a:stretch>
        </p:blipFill>
        <p:spPr>
          <a:xfrm>
            <a:off x="707923" y="3388678"/>
            <a:ext cx="2343477" cy="1562318"/>
          </a:xfrm>
          <a:prstGeom prst="rect">
            <a:avLst/>
          </a:prstGeom>
        </p:spPr>
      </p:pic>
      <p:sp>
        <p:nvSpPr>
          <p:cNvPr id="16" name="TextBox 15">
            <a:extLst>
              <a:ext uri="{FF2B5EF4-FFF2-40B4-BE49-F238E27FC236}">
                <a16:creationId xmlns:a16="http://schemas.microsoft.com/office/drawing/2014/main" id="{EE4F4121-FA3E-B6D0-C07D-C91BEA7CD923}"/>
              </a:ext>
            </a:extLst>
          </p:cNvPr>
          <p:cNvSpPr txBox="1"/>
          <p:nvPr/>
        </p:nvSpPr>
        <p:spPr>
          <a:xfrm>
            <a:off x="707923" y="5323317"/>
            <a:ext cx="2704432"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Duplicate records were removed successfully.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4889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program&#10;&#10;AI-generated content may be incorrect.">
            <a:extLst>
              <a:ext uri="{FF2B5EF4-FFF2-40B4-BE49-F238E27FC236}">
                <a16:creationId xmlns:a16="http://schemas.microsoft.com/office/drawing/2014/main" id="{92930BB4-652D-8F8E-EE33-0881F37D46AB}"/>
              </a:ext>
            </a:extLst>
          </p:cNvPr>
          <p:cNvPicPr>
            <a:picLocks noChangeAspect="1"/>
          </p:cNvPicPr>
          <p:nvPr/>
        </p:nvPicPr>
        <p:blipFill>
          <a:blip r:embed="rId2"/>
          <a:stretch>
            <a:fillRect/>
          </a:stretch>
        </p:blipFill>
        <p:spPr>
          <a:xfrm>
            <a:off x="622173" y="315023"/>
            <a:ext cx="3371094" cy="6227954"/>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673D2759-893D-315C-9D69-2F090FB953AB}"/>
              </a:ext>
            </a:extLst>
          </p:cNvPr>
          <p:cNvPicPr>
            <a:picLocks noChangeAspect="1"/>
          </p:cNvPicPr>
          <p:nvPr/>
        </p:nvPicPr>
        <p:blipFill>
          <a:blip r:embed="rId3"/>
          <a:srcRect r="4194"/>
          <a:stretch>
            <a:fillRect/>
          </a:stretch>
        </p:blipFill>
        <p:spPr>
          <a:xfrm>
            <a:off x="4346141" y="315023"/>
            <a:ext cx="4615092" cy="5801360"/>
          </a:xfrm>
          <a:prstGeom prst="rect">
            <a:avLst/>
          </a:prstGeom>
        </p:spPr>
      </p:pic>
    </p:spTree>
    <p:extLst>
      <p:ext uri="{BB962C8B-B14F-4D97-AF65-F5344CB8AC3E}">
        <p14:creationId xmlns:p14="http://schemas.microsoft.com/office/powerpoint/2010/main" val="2014542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A2516379-764B-CA34-1D09-3FF03A343A8C}"/>
              </a:ext>
            </a:extLst>
          </p:cNvPr>
          <p:cNvPicPr>
            <a:picLocks noChangeAspect="1"/>
          </p:cNvPicPr>
          <p:nvPr/>
        </p:nvPicPr>
        <p:blipFill>
          <a:blip r:embed="rId2"/>
          <a:stretch>
            <a:fillRect/>
          </a:stretch>
        </p:blipFill>
        <p:spPr>
          <a:xfrm>
            <a:off x="640206" y="689046"/>
            <a:ext cx="7215768" cy="6061245"/>
          </a:xfrm>
          <a:prstGeom prst="rect">
            <a:avLst/>
          </a:prstGeom>
        </p:spPr>
      </p:pic>
      <p:sp>
        <p:nvSpPr>
          <p:cNvPr id="2" name="TextBox 1">
            <a:extLst>
              <a:ext uri="{FF2B5EF4-FFF2-40B4-BE49-F238E27FC236}">
                <a16:creationId xmlns:a16="http://schemas.microsoft.com/office/drawing/2014/main" id="{2CD3F74F-EC73-7B65-7953-D9CEAD5F7E22}"/>
              </a:ext>
            </a:extLst>
          </p:cNvPr>
          <p:cNvSpPr txBox="1"/>
          <p:nvPr/>
        </p:nvSpPr>
        <p:spPr>
          <a:xfrm>
            <a:off x="640206" y="167148"/>
            <a:ext cx="6166994"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NON-VISUALIZATION ANALYSIS</a:t>
            </a:r>
          </a:p>
        </p:txBody>
      </p:sp>
      <p:sp>
        <p:nvSpPr>
          <p:cNvPr id="4" name="Rectangle 1">
            <a:extLst>
              <a:ext uri="{FF2B5EF4-FFF2-40B4-BE49-F238E27FC236}">
                <a16:creationId xmlns:a16="http://schemas.microsoft.com/office/drawing/2014/main" id="{218AC0AB-8A7C-9036-B002-B4497D69C0C6}"/>
              </a:ext>
            </a:extLst>
          </p:cNvPr>
          <p:cNvSpPr>
            <a:spLocks noChangeArrowheads="1"/>
          </p:cNvSpPr>
          <p:nvPr/>
        </p:nvSpPr>
        <p:spPr bwMode="auto">
          <a:xfrm>
            <a:off x="7984274" y="2238153"/>
            <a:ext cx="420772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Times New Roman" panose="02020603050405020304" pitchFamily="18" charset="0"/>
                <a:cs typeface="Times New Roman" panose="02020603050405020304" pitchFamily="18" charset="0"/>
              </a:rPr>
              <a:t>Market cap strongly correlates with trading volume and fully diluted valuation.</a:t>
            </a: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Times New Roman" panose="02020603050405020304" pitchFamily="18" charset="0"/>
                <a:cs typeface="Times New Roman" panose="02020603050405020304" pitchFamily="18" charset="0"/>
              </a:rPr>
              <a:t>Current price perfectly aligns with 24-hour high and low prices.</a:t>
            </a: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Times New Roman" panose="02020603050405020304" pitchFamily="18" charset="0"/>
                <a:cs typeface="Times New Roman" panose="02020603050405020304" pitchFamily="18" charset="0"/>
              </a:rPr>
              <a:t>Price has weak correlation with market cap, showing supply strongly influences a coin’s size.</a:t>
            </a:r>
          </a:p>
        </p:txBody>
      </p:sp>
    </p:spTree>
    <p:extLst>
      <p:ext uri="{BB962C8B-B14F-4D97-AF65-F5344CB8AC3E}">
        <p14:creationId xmlns:p14="http://schemas.microsoft.com/office/powerpoint/2010/main" val="2588932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89B7E5A-8AE3-3AC8-370B-A197CDDC88FB}"/>
              </a:ext>
            </a:extLst>
          </p:cNvPr>
          <p:cNvSpPr txBox="1"/>
          <p:nvPr/>
        </p:nvSpPr>
        <p:spPr>
          <a:xfrm>
            <a:off x="646281" y="5234884"/>
            <a:ext cx="9225280"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Bitcoin and Ethereum dominate the market with the highest market caps.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top 10 coins contribute a major portion of total market valuation, showing a heavily concentrated crypto market.</a:t>
            </a:r>
          </a:p>
          <a:p>
            <a:endParaRPr lang="en-IN" dirty="0"/>
          </a:p>
        </p:txBody>
      </p:sp>
      <p:pic>
        <p:nvPicPr>
          <p:cNvPr id="5" name="Picture 4" descr="A screenshot of a computer&#10;&#10;AI-generated content may be incorrect.">
            <a:extLst>
              <a:ext uri="{FF2B5EF4-FFF2-40B4-BE49-F238E27FC236}">
                <a16:creationId xmlns:a16="http://schemas.microsoft.com/office/drawing/2014/main" id="{EBB6CEA6-7ECA-9021-1E25-92EB612EC845}"/>
              </a:ext>
            </a:extLst>
          </p:cNvPr>
          <p:cNvPicPr>
            <a:picLocks noChangeAspect="1"/>
          </p:cNvPicPr>
          <p:nvPr/>
        </p:nvPicPr>
        <p:blipFill>
          <a:blip r:embed="rId2"/>
          <a:stretch>
            <a:fillRect/>
          </a:stretch>
        </p:blipFill>
        <p:spPr>
          <a:xfrm>
            <a:off x="646281" y="745281"/>
            <a:ext cx="8144341" cy="4259339"/>
          </a:xfrm>
          <a:prstGeom prst="rect">
            <a:avLst/>
          </a:prstGeom>
        </p:spPr>
      </p:pic>
    </p:spTree>
    <p:extLst>
      <p:ext uri="{BB962C8B-B14F-4D97-AF65-F5344CB8AC3E}">
        <p14:creationId xmlns:p14="http://schemas.microsoft.com/office/powerpoint/2010/main" val="661041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36B55B0-9C06-3622-C0FE-EF81DB6D9D67}"/>
              </a:ext>
            </a:extLst>
          </p:cNvPr>
          <p:cNvSpPr txBox="1"/>
          <p:nvPr/>
        </p:nvSpPr>
        <p:spPr>
          <a:xfrm>
            <a:off x="8316687" y="1997839"/>
            <a:ext cx="3875313" cy="286232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tokens have extremely high average prices, while many have low prices, showing wide diversity in valuation models.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 price does not always mean large market cap — supply differences matter.</a:t>
            </a:r>
          </a:p>
          <a:p>
            <a:endParaRPr lang="en-IN" dirty="0"/>
          </a:p>
        </p:txBody>
      </p:sp>
      <p:pic>
        <p:nvPicPr>
          <p:cNvPr id="7" name="Picture 6" descr="A screenshot of a computer&#10;&#10;AI-generated content may be incorrect.">
            <a:extLst>
              <a:ext uri="{FF2B5EF4-FFF2-40B4-BE49-F238E27FC236}">
                <a16:creationId xmlns:a16="http://schemas.microsoft.com/office/drawing/2014/main" id="{9993C26E-7EA0-C15E-6E81-7C9C1D1D15B1}"/>
              </a:ext>
            </a:extLst>
          </p:cNvPr>
          <p:cNvPicPr>
            <a:picLocks noChangeAspect="1"/>
          </p:cNvPicPr>
          <p:nvPr/>
        </p:nvPicPr>
        <p:blipFill>
          <a:blip r:embed="rId2"/>
          <a:stretch>
            <a:fillRect/>
          </a:stretch>
        </p:blipFill>
        <p:spPr>
          <a:xfrm>
            <a:off x="577022" y="0"/>
            <a:ext cx="7458339" cy="6774426"/>
          </a:xfrm>
          <a:prstGeom prst="rect">
            <a:avLst/>
          </a:prstGeom>
        </p:spPr>
      </p:pic>
    </p:spTree>
    <p:extLst>
      <p:ext uri="{BB962C8B-B14F-4D97-AF65-F5344CB8AC3E}">
        <p14:creationId xmlns:p14="http://schemas.microsoft.com/office/powerpoint/2010/main" val="1654357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computer code&#10;&#10;AI-generated content may be incorrect.">
            <a:extLst>
              <a:ext uri="{FF2B5EF4-FFF2-40B4-BE49-F238E27FC236}">
                <a16:creationId xmlns:a16="http://schemas.microsoft.com/office/drawing/2014/main" id="{E08CAAC7-CA0A-649B-D951-75815E7A30E4}"/>
              </a:ext>
            </a:extLst>
          </p:cNvPr>
          <p:cNvPicPr>
            <a:picLocks noChangeAspect="1"/>
          </p:cNvPicPr>
          <p:nvPr/>
        </p:nvPicPr>
        <p:blipFill>
          <a:blip r:embed="rId2"/>
          <a:stretch>
            <a:fillRect/>
          </a:stretch>
        </p:blipFill>
        <p:spPr>
          <a:xfrm>
            <a:off x="553863" y="1601652"/>
            <a:ext cx="5158680" cy="1503296"/>
          </a:xfrm>
          <a:prstGeom prst="rect">
            <a:avLst/>
          </a:prstGeom>
        </p:spPr>
      </p:pic>
      <p:sp>
        <p:nvSpPr>
          <p:cNvPr id="7" name="TextBox 6">
            <a:extLst>
              <a:ext uri="{FF2B5EF4-FFF2-40B4-BE49-F238E27FC236}">
                <a16:creationId xmlns:a16="http://schemas.microsoft.com/office/drawing/2014/main" id="{813AB1B8-13B3-F627-277D-6A5B967EDBF5}"/>
              </a:ext>
            </a:extLst>
          </p:cNvPr>
          <p:cNvSpPr txBox="1"/>
          <p:nvPr/>
        </p:nvSpPr>
        <p:spPr>
          <a:xfrm>
            <a:off x="7231518" y="4093028"/>
            <a:ext cx="4546824" cy="1200329"/>
          </a:xfrm>
          <a:prstGeom prst="rect">
            <a:avLst/>
          </a:prstGeom>
          <a:noFill/>
        </p:spPr>
        <p:txBody>
          <a:bodyPr wrap="square">
            <a:spAutoFit/>
          </a:bodyPr>
          <a:lstStyle/>
          <a:p>
            <a:pPr marL="285750" indent="-285750">
              <a:buFont typeface="Arial" panose="020B0604020202020204" pitchFamily="34" charset="0"/>
              <a:buChar char="•"/>
            </a:pPr>
            <a:r>
              <a:rPr lang="en-US" b="0" i="0" dirty="0">
                <a:effectLst/>
                <a:latin typeface="Times New Roman" panose="02020603050405020304" pitchFamily="18" charset="0"/>
                <a:ea typeface="SimSun" panose="02010600030101010101" pitchFamily="2" charset="-122"/>
                <a:cs typeface="Times New Roman" panose="02020603050405020304" pitchFamily="18" charset="0"/>
              </a:rPr>
              <a:t>Most cryptocurrencies show small price changes in 24 hours, but some coins exhibit extreme gains or losses — a sign of volatility.</a:t>
            </a:r>
            <a:endParaRPr lang="en-IN" dirty="0">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4" name="Picture 3" descr="A graph of a number of different sizes&#10;&#10;AI-generated content may be incorrect.">
            <a:extLst>
              <a:ext uri="{FF2B5EF4-FFF2-40B4-BE49-F238E27FC236}">
                <a16:creationId xmlns:a16="http://schemas.microsoft.com/office/drawing/2014/main" id="{74251049-DDD7-339E-7730-72E2528B91F3}"/>
              </a:ext>
            </a:extLst>
          </p:cNvPr>
          <p:cNvPicPr>
            <a:picLocks noChangeAspect="1"/>
          </p:cNvPicPr>
          <p:nvPr/>
        </p:nvPicPr>
        <p:blipFill>
          <a:blip r:embed="rId3"/>
          <a:stretch>
            <a:fillRect/>
          </a:stretch>
        </p:blipFill>
        <p:spPr>
          <a:xfrm>
            <a:off x="121609" y="3225656"/>
            <a:ext cx="6459794" cy="3632344"/>
          </a:xfrm>
          <a:prstGeom prst="rect">
            <a:avLst/>
          </a:prstGeom>
        </p:spPr>
      </p:pic>
      <p:sp>
        <p:nvSpPr>
          <p:cNvPr id="2" name="TextBox 1">
            <a:extLst>
              <a:ext uri="{FF2B5EF4-FFF2-40B4-BE49-F238E27FC236}">
                <a16:creationId xmlns:a16="http://schemas.microsoft.com/office/drawing/2014/main" id="{BD8D2D41-5C8C-D03F-D82A-96283A814A8D}"/>
              </a:ext>
            </a:extLst>
          </p:cNvPr>
          <p:cNvSpPr txBox="1"/>
          <p:nvPr/>
        </p:nvSpPr>
        <p:spPr>
          <a:xfrm>
            <a:off x="4315476" y="204923"/>
            <a:ext cx="4887517"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VISUALIZATIONS</a:t>
            </a:r>
          </a:p>
        </p:txBody>
      </p:sp>
      <p:sp>
        <p:nvSpPr>
          <p:cNvPr id="5" name="TextBox 4">
            <a:extLst>
              <a:ext uri="{FF2B5EF4-FFF2-40B4-BE49-F238E27FC236}">
                <a16:creationId xmlns:a16="http://schemas.microsoft.com/office/drawing/2014/main" id="{57132977-E8C2-6E91-68DB-52F94BA7E7DE}"/>
              </a:ext>
            </a:extLst>
          </p:cNvPr>
          <p:cNvSpPr txBox="1"/>
          <p:nvPr/>
        </p:nvSpPr>
        <p:spPr>
          <a:xfrm>
            <a:off x="553863" y="934065"/>
            <a:ext cx="3697814"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UNIVARIATE ANALYSIS</a:t>
            </a:r>
          </a:p>
        </p:txBody>
      </p:sp>
    </p:spTree>
    <p:extLst>
      <p:ext uri="{BB962C8B-B14F-4D97-AF65-F5344CB8AC3E}">
        <p14:creationId xmlns:p14="http://schemas.microsoft.com/office/powerpoint/2010/main" val="1964812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D769B4-458C-C16E-AC17-EDA3FF7A7F25}"/>
              </a:ext>
            </a:extLst>
          </p:cNvPr>
          <p:cNvSpPr txBox="1"/>
          <p:nvPr/>
        </p:nvSpPr>
        <p:spPr>
          <a:xfrm>
            <a:off x="8615680" y="2890520"/>
            <a:ext cx="3180089" cy="286232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Cryptocurrency prices vary widely. Most coins have very low prices, but a few top cryptocurrencies have extremely high values. This creates a long-tail distribution, which is why the plot looks skewed to the right.</a:t>
            </a:r>
          </a:p>
          <a:p>
            <a:endParaRPr lang="en-IN" dirty="0"/>
          </a:p>
        </p:txBody>
      </p:sp>
      <p:pic>
        <p:nvPicPr>
          <p:cNvPr id="3" name="Picture 2" descr="A graph of a chart&#10;&#10;AI-generated content may be incorrect.">
            <a:extLst>
              <a:ext uri="{FF2B5EF4-FFF2-40B4-BE49-F238E27FC236}">
                <a16:creationId xmlns:a16="http://schemas.microsoft.com/office/drawing/2014/main" id="{84E404B0-548E-E88F-3643-0C382C8B6156}"/>
              </a:ext>
            </a:extLst>
          </p:cNvPr>
          <p:cNvPicPr>
            <a:picLocks noChangeAspect="1"/>
          </p:cNvPicPr>
          <p:nvPr/>
        </p:nvPicPr>
        <p:blipFill>
          <a:blip r:embed="rId2"/>
          <a:srcRect t="7809"/>
          <a:stretch>
            <a:fillRect/>
          </a:stretch>
        </p:blipFill>
        <p:spPr>
          <a:xfrm>
            <a:off x="396231" y="304023"/>
            <a:ext cx="7809931" cy="6249953"/>
          </a:xfrm>
          <a:prstGeom prst="rect">
            <a:avLst/>
          </a:prstGeom>
        </p:spPr>
      </p:pic>
    </p:spTree>
    <p:extLst>
      <p:ext uri="{BB962C8B-B14F-4D97-AF65-F5344CB8AC3E}">
        <p14:creationId xmlns:p14="http://schemas.microsoft.com/office/powerpoint/2010/main" val="282735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E482ABF-5126-2417-560F-996DD9DD2E2D}"/>
              </a:ext>
            </a:extLst>
          </p:cNvPr>
          <p:cNvSpPr txBox="1"/>
          <p:nvPr/>
        </p:nvSpPr>
        <p:spPr>
          <a:xfrm>
            <a:off x="9072879" y="1808480"/>
            <a:ext cx="2386703" cy="286232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Market cap values are extremely skewed.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Only a few cryptocurrencies dominate the market (Bitcoin, Ethereum), while most coins are small-cap.</a:t>
            </a:r>
          </a:p>
          <a:p>
            <a:endParaRPr lang="en-IN" dirty="0"/>
          </a:p>
        </p:txBody>
      </p:sp>
      <p:pic>
        <p:nvPicPr>
          <p:cNvPr id="3" name="Picture 2" descr="A screen shot of a graph&#10;&#10;AI-generated content may be incorrect.">
            <a:extLst>
              <a:ext uri="{FF2B5EF4-FFF2-40B4-BE49-F238E27FC236}">
                <a16:creationId xmlns:a16="http://schemas.microsoft.com/office/drawing/2014/main" id="{58704DF2-C572-EDD7-E26A-92C898078FA3}"/>
              </a:ext>
            </a:extLst>
          </p:cNvPr>
          <p:cNvPicPr>
            <a:picLocks noChangeAspect="1"/>
          </p:cNvPicPr>
          <p:nvPr/>
        </p:nvPicPr>
        <p:blipFill>
          <a:blip r:embed="rId2"/>
          <a:stretch>
            <a:fillRect/>
          </a:stretch>
        </p:blipFill>
        <p:spPr>
          <a:xfrm>
            <a:off x="568545" y="294967"/>
            <a:ext cx="7951956" cy="6056671"/>
          </a:xfrm>
          <a:prstGeom prst="rect">
            <a:avLst/>
          </a:prstGeom>
        </p:spPr>
      </p:pic>
    </p:spTree>
    <p:extLst>
      <p:ext uri="{BB962C8B-B14F-4D97-AF65-F5344CB8AC3E}">
        <p14:creationId xmlns:p14="http://schemas.microsoft.com/office/powerpoint/2010/main" val="2971799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9843C-3B61-E554-67AF-09D1112C26F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BA0580A-0012-05EE-66E0-8FA579C83DAB}"/>
              </a:ext>
            </a:extLst>
          </p:cNvPr>
          <p:cNvSpPr txBox="1"/>
          <p:nvPr/>
        </p:nvSpPr>
        <p:spPr>
          <a:xfrm>
            <a:off x="7354388" y="3921760"/>
            <a:ext cx="4399280" cy="1477328"/>
          </a:xfrm>
          <a:prstGeom prst="rect">
            <a:avLst/>
          </a:prstGeom>
          <a:noFill/>
        </p:spPr>
        <p:txBody>
          <a:bodyPr wrap="square" rtlCol="0">
            <a:spAutoFit/>
          </a:bodyPr>
          <a:lstStyle/>
          <a:p>
            <a:pPr marL="285750" indent="-285750">
              <a:buFont typeface="Arial" panose="020B0604020202020204" pitchFamily="34" charset="0"/>
              <a:buChar char="•"/>
            </a:pPr>
            <a:r>
              <a:rPr lang="en-US" dirty="0"/>
              <a:t>There is a positive relationship between market cap and trading volume.</a:t>
            </a:r>
          </a:p>
          <a:p>
            <a:pPr marL="285750" indent="-285750">
              <a:buFont typeface="Arial" panose="020B0604020202020204" pitchFamily="34" charset="0"/>
              <a:buChar char="•"/>
            </a:pPr>
            <a:r>
              <a:rPr lang="en-US" dirty="0"/>
              <a:t>Larger cryptocurrencies generally have higher trading activity.</a:t>
            </a:r>
          </a:p>
          <a:p>
            <a:endParaRPr lang="en-IN" dirty="0"/>
          </a:p>
        </p:txBody>
      </p:sp>
      <p:pic>
        <p:nvPicPr>
          <p:cNvPr id="5" name="Picture 4" descr="A screen shot of a graph&#10;&#10;AI-generated content may be incorrect.">
            <a:extLst>
              <a:ext uri="{FF2B5EF4-FFF2-40B4-BE49-F238E27FC236}">
                <a16:creationId xmlns:a16="http://schemas.microsoft.com/office/drawing/2014/main" id="{F9AF43BC-C4D0-A5E9-54A4-F9C1CB09A84F}"/>
              </a:ext>
            </a:extLst>
          </p:cNvPr>
          <p:cNvPicPr>
            <a:picLocks noChangeAspect="1"/>
          </p:cNvPicPr>
          <p:nvPr/>
        </p:nvPicPr>
        <p:blipFill>
          <a:blip r:embed="rId2"/>
          <a:stretch>
            <a:fillRect/>
          </a:stretch>
        </p:blipFill>
        <p:spPr>
          <a:xfrm>
            <a:off x="721360" y="747473"/>
            <a:ext cx="5669413" cy="6110527"/>
          </a:xfrm>
          <a:prstGeom prst="rect">
            <a:avLst/>
          </a:prstGeom>
        </p:spPr>
      </p:pic>
      <p:sp>
        <p:nvSpPr>
          <p:cNvPr id="2" name="TextBox 1">
            <a:extLst>
              <a:ext uri="{FF2B5EF4-FFF2-40B4-BE49-F238E27FC236}">
                <a16:creationId xmlns:a16="http://schemas.microsoft.com/office/drawing/2014/main" id="{8B312366-BED6-B2C3-B5ED-F7692514E2D4}"/>
              </a:ext>
            </a:extLst>
          </p:cNvPr>
          <p:cNvSpPr txBox="1"/>
          <p:nvPr/>
        </p:nvSpPr>
        <p:spPr>
          <a:xfrm>
            <a:off x="721360" y="167148"/>
            <a:ext cx="5319252"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BIVARIATE ANALYSIS</a:t>
            </a:r>
          </a:p>
        </p:txBody>
      </p:sp>
    </p:spTree>
    <p:extLst>
      <p:ext uri="{BB962C8B-B14F-4D97-AF65-F5344CB8AC3E}">
        <p14:creationId xmlns:p14="http://schemas.microsoft.com/office/powerpoint/2010/main" val="13017009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D78E3F-CBCB-7F6E-C438-5A783F08F7FB}"/>
              </a:ext>
            </a:extLst>
          </p:cNvPr>
          <p:cNvPicPr>
            <a:picLocks noChangeAspect="1"/>
          </p:cNvPicPr>
          <p:nvPr/>
        </p:nvPicPr>
        <p:blipFill>
          <a:blip r:embed="rId2"/>
          <a:stretch>
            <a:fillRect/>
          </a:stretch>
        </p:blipFill>
        <p:spPr>
          <a:xfrm>
            <a:off x="680590" y="445899"/>
            <a:ext cx="4907410" cy="2160640"/>
          </a:xfrm>
          <a:prstGeom prst="rect">
            <a:avLst/>
          </a:prstGeom>
        </p:spPr>
      </p:pic>
      <p:sp>
        <p:nvSpPr>
          <p:cNvPr id="7" name="TextBox 6">
            <a:extLst>
              <a:ext uri="{FF2B5EF4-FFF2-40B4-BE49-F238E27FC236}">
                <a16:creationId xmlns:a16="http://schemas.microsoft.com/office/drawing/2014/main" id="{3E533378-98C2-90DF-E786-7C2709063A31}"/>
              </a:ext>
            </a:extLst>
          </p:cNvPr>
          <p:cNvSpPr txBox="1"/>
          <p:nvPr/>
        </p:nvSpPr>
        <p:spPr>
          <a:xfrm>
            <a:off x="680590" y="3213198"/>
            <a:ext cx="4907410" cy="1477328"/>
          </a:xfrm>
          <a:prstGeom prst="rect">
            <a:avLst/>
          </a:prstGeom>
          <a:noFill/>
        </p:spPr>
        <p:txBody>
          <a:bodyPr wrap="square">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There is NO strong direct relationship between price and market cap.</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Coins with low prices can have huge supplies, making market cap independent of price.</a:t>
            </a:r>
          </a:p>
        </p:txBody>
      </p:sp>
      <p:pic>
        <p:nvPicPr>
          <p:cNvPr id="4" name="Picture 3" descr="A graph of blue dots&#10;&#10;AI-generated content may be incorrect.">
            <a:extLst>
              <a:ext uri="{FF2B5EF4-FFF2-40B4-BE49-F238E27FC236}">
                <a16:creationId xmlns:a16="http://schemas.microsoft.com/office/drawing/2014/main" id="{26532200-298F-3F9D-7234-714559E02BD3}"/>
              </a:ext>
            </a:extLst>
          </p:cNvPr>
          <p:cNvPicPr>
            <a:picLocks noChangeAspect="1"/>
          </p:cNvPicPr>
          <p:nvPr/>
        </p:nvPicPr>
        <p:blipFill>
          <a:blip r:embed="rId3"/>
          <a:stretch>
            <a:fillRect/>
          </a:stretch>
        </p:blipFill>
        <p:spPr>
          <a:xfrm>
            <a:off x="6007510" y="877597"/>
            <a:ext cx="6074922" cy="4671201"/>
          </a:xfrm>
          <a:prstGeom prst="rect">
            <a:avLst/>
          </a:prstGeom>
        </p:spPr>
      </p:pic>
    </p:spTree>
    <p:extLst>
      <p:ext uri="{BB962C8B-B14F-4D97-AF65-F5344CB8AC3E}">
        <p14:creationId xmlns:p14="http://schemas.microsoft.com/office/powerpoint/2010/main" val="14382766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BA9872-2E10-1DD6-716D-9A4A37CBC6B2}"/>
              </a:ext>
            </a:extLst>
          </p:cNvPr>
          <p:cNvSpPr txBox="1"/>
          <p:nvPr/>
        </p:nvSpPr>
        <p:spPr>
          <a:xfrm>
            <a:off x="8483600" y="2113894"/>
            <a:ext cx="3271520" cy="1477328"/>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Bitcoin and Ethereum dominate the crypto market.</a:t>
            </a:r>
          </a:p>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Other coins have significantly smaller market caps in comparison.</a:t>
            </a:r>
          </a:p>
        </p:txBody>
      </p:sp>
      <p:pic>
        <p:nvPicPr>
          <p:cNvPr id="3" name="Picture 2" descr="A graph of a bar chart&#10;&#10;AI-generated content may be incorrect.">
            <a:extLst>
              <a:ext uri="{FF2B5EF4-FFF2-40B4-BE49-F238E27FC236}">
                <a16:creationId xmlns:a16="http://schemas.microsoft.com/office/drawing/2014/main" id="{F7616623-6D34-31B8-0A4B-9598B0894056}"/>
              </a:ext>
            </a:extLst>
          </p:cNvPr>
          <p:cNvPicPr>
            <a:picLocks noChangeAspect="1"/>
          </p:cNvPicPr>
          <p:nvPr/>
        </p:nvPicPr>
        <p:blipFill>
          <a:blip r:embed="rId2"/>
          <a:stretch>
            <a:fillRect/>
          </a:stretch>
        </p:blipFill>
        <p:spPr>
          <a:xfrm>
            <a:off x="585253" y="218486"/>
            <a:ext cx="7743876" cy="6421027"/>
          </a:xfrm>
          <a:prstGeom prst="rect">
            <a:avLst/>
          </a:prstGeom>
        </p:spPr>
      </p:pic>
    </p:spTree>
    <p:extLst>
      <p:ext uri="{BB962C8B-B14F-4D97-AF65-F5344CB8AC3E}">
        <p14:creationId xmlns:p14="http://schemas.microsoft.com/office/powerpoint/2010/main" val="1512388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screen&#10;&#10;AI-generated content may be incorrect.">
            <a:extLst>
              <a:ext uri="{FF2B5EF4-FFF2-40B4-BE49-F238E27FC236}">
                <a16:creationId xmlns:a16="http://schemas.microsoft.com/office/drawing/2014/main" id="{745F0080-4F53-7578-B424-9FCF2B4467B7}"/>
              </a:ext>
            </a:extLst>
          </p:cNvPr>
          <p:cNvPicPr>
            <a:picLocks noChangeAspect="1"/>
          </p:cNvPicPr>
          <p:nvPr/>
        </p:nvPicPr>
        <p:blipFill>
          <a:blip r:embed="rId2"/>
          <a:srcRect t="13484" r="84"/>
          <a:stretch>
            <a:fillRect/>
          </a:stretch>
        </p:blipFill>
        <p:spPr>
          <a:xfrm>
            <a:off x="91440" y="735828"/>
            <a:ext cx="7313050" cy="6226900"/>
          </a:xfrm>
          <a:prstGeom prst="rect">
            <a:avLst/>
          </a:prstGeom>
        </p:spPr>
      </p:pic>
      <p:sp>
        <p:nvSpPr>
          <p:cNvPr id="6" name="TextBox 5">
            <a:extLst>
              <a:ext uri="{FF2B5EF4-FFF2-40B4-BE49-F238E27FC236}">
                <a16:creationId xmlns:a16="http://schemas.microsoft.com/office/drawing/2014/main" id="{E5DC3CE1-4CB7-EDF4-06AE-BA5F8C12A6B4}"/>
              </a:ext>
            </a:extLst>
          </p:cNvPr>
          <p:cNvSpPr txBox="1"/>
          <p:nvPr/>
        </p:nvSpPr>
        <p:spPr>
          <a:xfrm>
            <a:off x="580102" y="179308"/>
            <a:ext cx="4975123" cy="738664"/>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MULTIVARIATE ANALYSIS</a:t>
            </a:r>
          </a:p>
          <a:p>
            <a:endParaRPr lang="en-IN" dirty="0"/>
          </a:p>
        </p:txBody>
      </p:sp>
      <p:pic>
        <p:nvPicPr>
          <p:cNvPr id="8" name="Picture 7" descr="A screenshot of a computer code&#10;&#10;AI-generated content may be incorrect.">
            <a:extLst>
              <a:ext uri="{FF2B5EF4-FFF2-40B4-BE49-F238E27FC236}">
                <a16:creationId xmlns:a16="http://schemas.microsoft.com/office/drawing/2014/main" id="{4A7E805D-F8A5-E3BF-2ADE-1087D4D12375}"/>
              </a:ext>
            </a:extLst>
          </p:cNvPr>
          <p:cNvPicPr>
            <a:picLocks noChangeAspect="1"/>
          </p:cNvPicPr>
          <p:nvPr/>
        </p:nvPicPr>
        <p:blipFill>
          <a:blip r:embed="rId3"/>
          <a:stretch>
            <a:fillRect/>
          </a:stretch>
        </p:blipFill>
        <p:spPr>
          <a:xfrm>
            <a:off x="7404490" y="207565"/>
            <a:ext cx="4787510" cy="1154132"/>
          </a:xfrm>
          <a:prstGeom prst="rect">
            <a:avLst/>
          </a:prstGeom>
        </p:spPr>
      </p:pic>
      <p:sp>
        <p:nvSpPr>
          <p:cNvPr id="2" name="Rectangle 1">
            <a:extLst>
              <a:ext uri="{FF2B5EF4-FFF2-40B4-BE49-F238E27FC236}">
                <a16:creationId xmlns:a16="http://schemas.microsoft.com/office/drawing/2014/main" id="{1B1207D0-72EA-44FE-E203-4F6DD213D6B9}"/>
              </a:ext>
            </a:extLst>
          </p:cNvPr>
          <p:cNvSpPr>
            <a:spLocks noChangeArrowheads="1"/>
          </p:cNvSpPr>
          <p:nvPr/>
        </p:nvSpPr>
        <p:spPr bwMode="auto">
          <a:xfrm>
            <a:off x="7649768" y="1734922"/>
            <a:ext cx="4296953"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Times New Roman" panose="02020603050405020304" pitchFamily="18" charset="0"/>
                <a:cs typeface="Times New Roman" panose="02020603050405020304" pitchFamily="18" charset="0"/>
              </a:rPr>
              <a:t>Market capitalization strongly correlates with trading volume and fully diluted valuation, indicating higher activity in large-cap cryptocurrencies.</a:t>
            </a: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Times New Roman" panose="02020603050405020304" pitchFamily="18" charset="0"/>
                <a:cs typeface="Times New Roman" panose="02020603050405020304" pitchFamily="18" charset="0"/>
              </a:rPr>
              <a:t>Current price closely aligns with 24-hour high and low prices, reflecting short-term price movements.</a:t>
            </a: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Times New Roman" panose="02020603050405020304" pitchFamily="18" charset="0"/>
                <a:cs typeface="Times New Roman" panose="02020603050405020304" pitchFamily="18" charset="0"/>
              </a:rPr>
              <a:t>Weak correlation between price and market capitalization shows that token supply significantly influences a cryptocurrency’s overall value.</a:t>
            </a:r>
          </a:p>
        </p:txBody>
      </p:sp>
    </p:spTree>
    <p:extLst>
      <p:ext uri="{BB962C8B-B14F-4D97-AF65-F5344CB8AC3E}">
        <p14:creationId xmlns:p14="http://schemas.microsoft.com/office/powerpoint/2010/main" val="34719891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6BC095D-1E24-6D0B-0309-C0CA996385D0}"/>
              </a:ext>
            </a:extLst>
          </p:cNvPr>
          <p:cNvGraphicFramePr>
            <a:graphicFrameLocks noGrp="1"/>
          </p:cNvGraphicFramePr>
          <p:nvPr>
            <p:extLst>
              <p:ext uri="{D42A27DB-BD31-4B8C-83A1-F6EECF244321}">
                <p14:modId xmlns:p14="http://schemas.microsoft.com/office/powerpoint/2010/main" val="2506823366"/>
              </p:ext>
            </p:extLst>
          </p:nvPr>
        </p:nvGraphicFramePr>
        <p:xfrm>
          <a:off x="1442720" y="1146280"/>
          <a:ext cx="9935194" cy="4791534"/>
        </p:xfrm>
        <a:graphic>
          <a:graphicData uri="http://schemas.openxmlformats.org/drawingml/2006/table">
            <a:tbl>
              <a:tblPr firstRow="1" bandRow="1">
                <a:tableStyleId>{5C22544A-7EE6-4342-B048-85BDC9FD1C3A}</a:tableStyleId>
              </a:tblPr>
              <a:tblGrid>
                <a:gridCol w="2188153">
                  <a:extLst>
                    <a:ext uri="{9D8B030D-6E8A-4147-A177-3AD203B41FA5}">
                      <a16:colId xmlns:a16="http://schemas.microsoft.com/office/drawing/2014/main" val="1975622273"/>
                    </a:ext>
                  </a:extLst>
                </a:gridCol>
                <a:gridCol w="7747041">
                  <a:extLst>
                    <a:ext uri="{9D8B030D-6E8A-4147-A177-3AD203B41FA5}">
                      <a16:colId xmlns:a16="http://schemas.microsoft.com/office/drawing/2014/main" val="1710752084"/>
                    </a:ext>
                  </a:extLst>
                </a:gridCol>
              </a:tblGrid>
              <a:tr h="598942">
                <a:tc>
                  <a:txBody>
                    <a:bodyPr/>
                    <a:lstStyle/>
                    <a:p>
                      <a:pPr algn="ctr"/>
                      <a:r>
                        <a:rPr lang="en-IN" sz="2000" b="1" i="0" dirty="0">
                          <a:latin typeface="Times New Roman" panose="02020603050405020304" pitchFamily="18" charset="0"/>
                          <a:cs typeface="Times New Roman" panose="02020603050405020304" pitchFamily="18" charset="0"/>
                        </a:rPr>
                        <a:t>CATEGORY</a:t>
                      </a:r>
                    </a:p>
                  </a:txBody>
                  <a:tcPr/>
                </a:tc>
                <a:tc>
                  <a:txBody>
                    <a:bodyPr/>
                    <a:lstStyle/>
                    <a:p>
                      <a:pPr algn="ctr"/>
                      <a:r>
                        <a:rPr lang="en-IN" sz="2000" b="1" i="0" dirty="0">
                          <a:latin typeface="Times New Roman" panose="02020603050405020304" pitchFamily="18" charset="0"/>
                          <a:cs typeface="Times New Roman" panose="02020603050405020304" pitchFamily="18" charset="0"/>
                        </a:rPr>
                        <a:t>KEY INSIGHTS</a:t>
                      </a:r>
                    </a:p>
                  </a:txBody>
                  <a:tcPr/>
                </a:tc>
                <a:extLst>
                  <a:ext uri="{0D108BD9-81ED-4DB2-BD59-A6C34878D82A}">
                    <a16:rowId xmlns:a16="http://schemas.microsoft.com/office/drawing/2014/main" val="481883877"/>
                  </a:ext>
                </a:extLst>
              </a:tr>
              <a:tr h="1048148">
                <a:tc>
                  <a:txBody>
                    <a:bodyPr/>
                    <a:lstStyle/>
                    <a:p>
                      <a:pPr algn="l"/>
                      <a:r>
                        <a:rPr lang="en-IN" b="0" i="0" dirty="0">
                          <a:latin typeface="Times New Roman" panose="02020603050405020304" pitchFamily="18" charset="0"/>
                          <a:cs typeface="Times New Roman" panose="02020603050405020304" pitchFamily="18" charset="0"/>
                        </a:rPr>
                        <a:t>Categorical Columns</a:t>
                      </a:r>
                    </a:p>
                  </a:txBody>
                  <a:tcPr/>
                </a:tc>
                <a:tc>
                  <a:txBody>
                    <a:bodyPr/>
                    <a:lstStyle/>
                    <a:p>
                      <a:pPr algn="l"/>
                      <a:r>
                        <a:rPr lang="en-US" b="0" i="0" dirty="0">
                          <a:latin typeface="Times New Roman" panose="02020603050405020304" pitchFamily="18" charset="0"/>
                          <a:cs typeface="Times New Roman" panose="02020603050405020304" pitchFamily="18" charset="0"/>
                        </a:rPr>
                        <a:t>Columns such as id, symbol, and name act as unique identifiers rather than true categorical variables, as most values occur only once.</a:t>
                      </a:r>
                      <a:endParaRPr lang="en-IN" b="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48577304"/>
                  </a:ext>
                </a:extLst>
              </a:tr>
              <a:tr h="1048148">
                <a:tc>
                  <a:txBody>
                    <a:bodyPr/>
                    <a:lstStyle/>
                    <a:p>
                      <a:pPr algn="l"/>
                      <a:r>
                        <a:rPr lang="en-IN" b="0" i="0" dirty="0">
                          <a:latin typeface="Times New Roman" panose="02020603050405020304" pitchFamily="18" charset="0"/>
                          <a:cs typeface="Times New Roman" panose="02020603050405020304" pitchFamily="18" charset="0"/>
                        </a:rPr>
                        <a:t>Price Distribution</a:t>
                      </a:r>
                    </a:p>
                  </a:txBody>
                  <a:tcPr/>
                </a:tc>
                <a:tc>
                  <a:txBody>
                    <a:bodyPr/>
                    <a:lstStyle/>
                    <a:p>
                      <a:pPr algn="l"/>
                      <a:r>
                        <a:rPr lang="en-US" dirty="0">
                          <a:latin typeface="Times New Roman" panose="02020603050405020304" pitchFamily="18" charset="0"/>
                          <a:cs typeface="Times New Roman" panose="02020603050405020304" pitchFamily="18" charset="0"/>
                        </a:rPr>
                        <a:t>Cryptocurrency prices are highly right-skewed, with most coins priced very low, while a few coins have extremely high prices.</a:t>
                      </a:r>
                      <a:endParaRPr lang="en-IN" b="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01074216"/>
                  </a:ext>
                </a:extLst>
              </a:tr>
              <a:tr h="1048148">
                <a:tc>
                  <a:txBody>
                    <a:bodyPr/>
                    <a:lstStyle/>
                    <a:p>
                      <a:pPr algn="l"/>
                      <a:r>
                        <a:rPr lang="en-IN" b="0" i="0" dirty="0">
                          <a:latin typeface="Times New Roman" panose="02020603050405020304" pitchFamily="18" charset="0"/>
                          <a:cs typeface="Times New Roman" panose="02020603050405020304" pitchFamily="18" charset="0"/>
                        </a:rPr>
                        <a:t>Market Capitalization</a:t>
                      </a:r>
                    </a:p>
                  </a:txBody>
                  <a:tcPr/>
                </a:tc>
                <a:tc>
                  <a:txBody>
                    <a:bodyPr/>
                    <a:lstStyle/>
                    <a:p>
                      <a:pPr algn="l"/>
                      <a:r>
                        <a:rPr lang="en-US" b="0" i="0" dirty="0">
                          <a:latin typeface="Times New Roman" panose="02020603050405020304" pitchFamily="18" charset="0"/>
                          <a:cs typeface="Times New Roman" panose="02020603050405020304" pitchFamily="18" charset="0"/>
                        </a:rPr>
                        <a:t>Market capitalization shows an extreme skewness, indicating that a few cryptocurrencies dominate the overall market value.</a:t>
                      </a:r>
                      <a:endParaRPr lang="en-IN" b="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29367254"/>
                  </a:ext>
                </a:extLst>
              </a:tr>
              <a:tr h="1048148">
                <a:tc>
                  <a:txBody>
                    <a:bodyPr/>
                    <a:lstStyle/>
                    <a:p>
                      <a:pPr algn="l"/>
                      <a:r>
                        <a:rPr lang="en-IN" b="0" i="0" dirty="0">
                          <a:latin typeface="Times New Roman" panose="02020603050405020304" pitchFamily="18" charset="0"/>
                          <a:cs typeface="Times New Roman" panose="02020603050405020304" pitchFamily="18" charset="0"/>
                        </a:rPr>
                        <a:t>Trading Volume</a:t>
                      </a:r>
                    </a:p>
                  </a:txBody>
                  <a:tcPr/>
                </a:tc>
                <a:tc>
                  <a:txBody>
                    <a:bodyPr/>
                    <a:lstStyle/>
                    <a:p>
                      <a:pPr algn="l"/>
                      <a:r>
                        <a:rPr lang="en-US" dirty="0"/>
                        <a:t>Cryptocurrencies with larger market capitalization generally show higher trading volumes, reflecting greater liquidity and investor participation.</a:t>
                      </a:r>
                      <a:endParaRPr lang="en-IN" b="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53714030"/>
                  </a:ext>
                </a:extLst>
              </a:tr>
            </a:tbl>
          </a:graphicData>
        </a:graphic>
      </p:graphicFrame>
      <p:sp>
        <p:nvSpPr>
          <p:cNvPr id="7" name="TextBox 6">
            <a:extLst>
              <a:ext uri="{FF2B5EF4-FFF2-40B4-BE49-F238E27FC236}">
                <a16:creationId xmlns:a16="http://schemas.microsoft.com/office/drawing/2014/main" id="{886B84F2-9253-6198-964B-2EA2AA353C68}"/>
              </a:ext>
            </a:extLst>
          </p:cNvPr>
          <p:cNvSpPr txBox="1"/>
          <p:nvPr/>
        </p:nvSpPr>
        <p:spPr>
          <a:xfrm>
            <a:off x="4990618" y="403141"/>
            <a:ext cx="2465408"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SUMMARY</a:t>
            </a:r>
          </a:p>
        </p:txBody>
      </p:sp>
    </p:spTree>
    <p:extLst>
      <p:ext uri="{BB962C8B-B14F-4D97-AF65-F5344CB8AC3E}">
        <p14:creationId xmlns:p14="http://schemas.microsoft.com/office/powerpoint/2010/main" val="8070136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93608E0-053C-555C-C4ED-A88B20FC9D4F}"/>
              </a:ext>
            </a:extLst>
          </p:cNvPr>
          <p:cNvGraphicFramePr>
            <a:graphicFrameLocks noGrp="1"/>
          </p:cNvGraphicFramePr>
          <p:nvPr>
            <p:extLst>
              <p:ext uri="{D42A27DB-BD31-4B8C-83A1-F6EECF244321}">
                <p14:modId xmlns:p14="http://schemas.microsoft.com/office/powerpoint/2010/main" val="1002967087"/>
              </p:ext>
            </p:extLst>
          </p:nvPr>
        </p:nvGraphicFramePr>
        <p:xfrm>
          <a:off x="1241192" y="428263"/>
          <a:ext cx="10368216" cy="5550699"/>
        </p:xfrm>
        <a:graphic>
          <a:graphicData uri="http://schemas.openxmlformats.org/drawingml/2006/table">
            <a:tbl>
              <a:tblPr firstRow="1" bandRow="1">
                <a:tableStyleId>{5C22544A-7EE6-4342-B048-85BDC9FD1C3A}</a:tableStyleId>
              </a:tblPr>
              <a:tblGrid>
                <a:gridCol w="3569712">
                  <a:extLst>
                    <a:ext uri="{9D8B030D-6E8A-4147-A177-3AD203B41FA5}">
                      <a16:colId xmlns:a16="http://schemas.microsoft.com/office/drawing/2014/main" val="191968933"/>
                    </a:ext>
                  </a:extLst>
                </a:gridCol>
                <a:gridCol w="6798504">
                  <a:extLst>
                    <a:ext uri="{9D8B030D-6E8A-4147-A177-3AD203B41FA5}">
                      <a16:colId xmlns:a16="http://schemas.microsoft.com/office/drawing/2014/main" val="3000499999"/>
                    </a:ext>
                  </a:extLst>
                </a:gridCol>
              </a:tblGrid>
              <a:tr h="421605">
                <a:tc>
                  <a:txBody>
                    <a:bodyPr/>
                    <a:lstStyle/>
                    <a:p>
                      <a:pPr algn="ctr"/>
                      <a:r>
                        <a:rPr lang="en-IN" sz="2000" dirty="0">
                          <a:latin typeface="Times New Roman" panose="02020603050405020304" pitchFamily="18" charset="0"/>
                          <a:cs typeface="Times New Roman" panose="02020603050405020304" pitchFamily="18" charset="0"/>
                        </a:rPr>
                        <a:t>CATEGORY</a:t>
                      </a:r>
                    </a:p>
                  </a:txBody>
                  <a:tcPr/>
                </a:tc>
                <a:tc>
                  <a:txBody>
                    <a:bodyPr/>
                    <a:lstStyle/>
                    <a:p>
                      <a:pPr algn="ctr"/>
                      <a:r>
                        <a:rPr lang="en-IN" sz="2000" dirty="0">
                          <a:latin typeface="Times New Roman" panose="02020603050405020304" pitchFamily="18" charset="0"/>
                          <a:cs typeface="Times New Roman" panose="02020603050405020304" pitchFamily="18" charset="0"/>
                        </a:rPr>
                        <a:t>KEY INSIGHTS</a:t>
                      </a:r>
                    </a:p>
                  </a:txBody>
                  <a:tcPr/>
                </a:tc>
                <a:extLst>
                  <a:ext uri="{0D108BD9-81ED-4DB2-BD59-A6C34878D82A}">
                    <a16:rowId xmlns:a16="http://schemas.microsoft.com/office/drawing/2014/main" val="2739588444"/>
                  </a:ext>
                </a:extLst>
              </a:tr>
              <a:tr h="1366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i="0" dirty="0">
                          <a:latin typeface="Times New Roman" panose="02020603050405020304" pitchFamily="18" charset="0"/>
                          <a:cs typeface="Times New Roman" panose="02020603050405020304" pitchFamily="18" charset="0"/>
                        </a:rPr>
                        <a:t>Correlation Patterns</a:t>
                      </a:r>
                    </a:p>
                    <a:p>
                      <a:endParaRPr lang="en-IN" sz="18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Times New Roman" panose="02020603050405020304" pitchFamily="18" charset="0"/>
                          <a:cs typeface="Times New Roman" panose="02020603050405020304" pitchFamily="18" charset="0"/>
                        </a:rPr>
                        <a:t>Strong correlations are observed between market capitalization and total volume, as well as market capitalization and fully diluted valuation, while price shows weak correlation with market capitalization.</a:t>
                      </a:r>
                      <a:endParaRPr lang="en-IN" b="0" i="0" dirty="0">
                        <a:latin typeface="Times New Roman" panose="02020603050405020304" pitchFamily="18" charset="0"/>
                        <a:cs typeface="Times New Roman" panose="02020603050405020304" pitchFamily="18" charset="0"/>
                      </a:endParaRPr>
                    </a:p>
                    <a:p>
                      <a:pPr algn="l"/>
                      <a:endParaRPr lang="en-IN" b="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23937311"/>
                  </a:ext>
                </a:extLst>
              </a:tr>
              <a:tr h="854055">
                <a:tc>
                  <a:txBody>
                    <a:bodyPr/>
                    <a:lstStyle/>
                    <a:p>
                      <a:r>
                        <a:rPr lang="en-IN" sz="1800" b="0" dirty="0">
                          <a:latin typeface="Times New Roman" panose="02020603050405020304" pitchFamily="18" charset="0"/>
                          <a:cs typeface="Times New Roman" panose="02020603050405020304" pitchFamily="18" charset="0"/>
                        </a:rPr>
                        <a:t>Price vs Market Cap</a:t>
                      </a:r>
                    </a:p>
                  </a:txBody>
                  <a:tcPr/>
                </a:tc>
                <a:tc>
                  <a:txBody>
                    <a:bodyPr/>
                    <a:lstStyle/>
                    <a:p>
                      <a:r>
                        <a:rPr lang="en-US" dirty="0"/>
                        <a:t>There is no direct relationship between price and market capitalization, as circulating supply plays a significant role in determining overall valuation</a:t>
                      </a:r>
                      <a:r>
                        <a:rPr lang="en-US" sz="1800" b="0" dirty="0">
                          <a:latin typeface="Times New Roman" panose="02020603050405020304" pitchFamily="18" charset="0"/>
                          <a:cs typeface="Times New Roman" panose="02020603050405020304" pitchFamily="18" charset="0"/>
                        </a:rPr>
                        <a:t>.</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6642567"/>
                  </a:ext>
                </a:extLst>
              </a:tr>
              <a:tr h="921601">
                <a:tc>
                  <a:txBody>
                    <a:bodyPr/>
                    <a:lstStyle/>
                    <a:p>
                      <a:r>
                        <a:rPr lang="en-IN" sz="1800" b="0" dirty="0">
                          <a:latin typeface="Times New Roman" panose="02020603050405020304" pitchFamily="18" charset="0"/>
                          <a:cs typeface="Times New Roman" panose="02020603050405020304" pitchFamily="18" charset="0"/>
                        </a:rPr>
                        <a:t>Volatility (24H &amp; 7D)</a:t>
                      </a:r>
                    </a:p>
                  </a:txBody>
                  <a:tcPr/>
                </a:tc>
                <a:tc>
                  <a:txBody>
                    <a:bodyPr/>
                    <a:lstStyle/>
                    <a:p>
                      <a:r>
                        <a:rPr lang="en-US" sz="1800" b="0" dirty="0">
                          <a:latin typeface="Times New Roman" panose="02020603050405020304" pitchFamily="18" charset="0"/>
                          <a:cs typeface="Times New Roman" panose="02020603050405020304" pitchFamily="18" charset="0"/>
                        </a:rPr>
                        <a:t>Short-term and weekly price changes show high volatility, with some cryptocurrencies experiencing extreme gains or losses.</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44185708"/>
                  </a:ext>
                </a:extLst>
              </a:tr>
              <a:tr h="908452">
                <a:tc>
                  <a:txBody>
                    <a:bodyPr/>
                    <a:lstStyle/>
                    <a:p>
                      <a:r>
                        <a:rPr lang="en-IN" sz="1800" b="0" dirty="0">
                          <a:latin typeface="Times New Roman" panose="02020603050405020304" pitchFamily="18" charset="0"/>
                          <a:cs typeface="Times New Roman" panose="02020603050405020304" pitchFamily="18" charset="0"/>
                        </a:rPr>
                        <a:t>Dominant Cryptocurrencies</a:t>
                      </a:r>
                    </a:p>
                  </a:txBody>
                  <a:tcPr/>
                </a:tc>
                <a:tc>
                  <a:txBody>
                    <a:bodyPr/>
                    <a:lstStyle/>
                    <a:p>
                      <a:r>
                        <a:rPr lang="en-US" sz="1800" b="0" dirty="0">
                          <a:latin typeface="Times New Roman" panose="02020603050405020304" pitchFamily="18" charset="0"/>
                          <a:cs typeface="Times New Roman" panose="02020603050405020304" pitchFamily="18" charset="0"/>
                        </a:rPr>
                        <a:t>Bitcoin and Ethereum dominate the market, contributing a major share of total cryptocurrency market capitalization.</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72455186"/>
                  </a:ext>
                </a:extLst>
              </a:tr>
              <a:tr h="921601">
                <a:tc>
                  <a:txBody>
                    <a:bodyPr/>
                    <a:lstStyle/>
                    <a:p>
                      <a:r>
                        <a:rPr lang="en-IN" sz="1800" b="0" dirty="0">
                          <a:latin typeface="Times New Roman" panose="02020603050405020304" pitchFamily="18" charset="0"/>
                          <a:cs typeface="Times New Roman" panose="02020603050405020304" pitchFamily="18" charset="0"/>
                        </a:rPr>
                        <a:t>Supply Utilization</a:t>
                      </a:r>
                    </a:p>
                  </a:txBody>
                  <a:tcPr/>
                </a:tc>
                <a:tc>
                  <a:txBody>
                    <a:bodyPr/>
                    <a:lstStyle/>
                    <a:p>
                      <a:r>
                        <a:rPr lang="en-US" sz="1800" b="0" dirty="0">
                          <a:latin typeface="Times New Roman" panose="02020603050405020304" pitchFamily="18" charset="0"/>
                          <a:cs typeface="Times New Roman" panose="02020603050405020304" pitchFamily="18" charset="0"/>
                        </a:rPr>
                        <a:t>Supply utilization varies widely across cryptocurrencies, indicating differences in token distribution models and maturity levels.</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04497231"/>
                  </a:ext>
                </a:extLst>
              </a:tr>
            </a:tbl>
          </a:graphicData>
        </a:graphic>
      </p:graphicFrame>
    </p:spTree>
    <p:extLst>
      <p:ext uri="{BB962C8B-B14F-4D97-AF65-F5344CB8AC3E}">
        <p14:creationId xmlns:p14="http://schemas.microsoft.com/office/powerpoint/2010/main" val="34690309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F78F498-44FC-EF3A-AF11-B92D570B25AF}"/>
              </a:ext>
            </a:extLst>
          </p:cNvPr>
          <p:cNvSpPr txBox="1"/>
          <p:nvPr/>
        </p:nvSpPr>
        <p:spPr>
          <a:xfrm>
            <a:off x="642257" y="1915885"/>
            <a:ext cx="11092543" cy="1938992"/>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This project used Exploratory Data Analysis to examine the Top 1000 Cryptocurrencies and identify key market patterns. The analysis showed that the crypto market is highly skewed, with a few large cryptocurrencies dominating market capitalization and trading volume. It also revealed that market size depends more on circulating supply than price alone, and that cryptocurrencies exhibit high price volatility. Overall, the dataset provides valuable insights into market structure and risk, making it suitable for further analysis.</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B9E26BE-88F3-720C-8AD7-A2AFAB7E3ACA}"/>
              </a:ext>
            </a:extLst>
          </p:cNvPr>
          <p:cNvSpPr txBox="1"/>
          <p:nvPr/>
        </p:nvSpPr>
        <p:spPr>
          <a:xfrm>
            <a:off x="4711269" y="749697"/>
            <a:ext cx="2769461"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790785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64">
            <a:extLst>
              <a:ext uri="{FF2B5EF4-FFF2-40B4-BE49-F238E27FC236}">
                <a16:creationId xmlns:a16="http://schemas.microsoft.com/office/drawing/2014/main" id="{13A9171C-56C2-3965-2061-A0FC5C58BAA6}"/>
              </a:ext>
            </a:extLst>
          </p:cNvPr>
          <p:cNvPicPr/>
          <p:nvPr/>
        </p:nvPicPr>
        <p:blipFill>
          <a:blip r:embed="rId2" cstate="print"/>
          <a:stretch>
            <a:fillRect/>
          </a:stretch>
        </p:blipFill>
        <p:spPr>
          <a:xfrm>
            <a:off x="6024163" y="2238191"/>
            <a:ext cx="3348990" cy="2125980"/>
          </a:xfrm>
          <a:prstGeom prst="rect">
            <a:avLst/>
          </a:prstGeom>
        </p:spPr>
      </p:pic>
      <p:sp>
        <p:nvSpPr>
          <p:cNvPr id="7" name="TextBox 6">
            <a:extLst>
              <a:ext uri="{FF2B5EF4-FFF2-40B4-BE49-F238E27FC236}">
                <a16:creationId xmlns:a16="http://schemas.microsoft.com/office/drawing/2014/main" id="{8E40AC6E-4667-8DCC-70E3-D008E469FD4E}"/>
              </a:ext>
            </a:extLst>
          </p:cNvPr>
          <p:cNvSpPr txBox="1"/>
          <p:nvPr/>
        </p:nvSpPr>
        <p:spPr>
          <a:xfrm>
            <a:off x="1582992" y="2585885"/>
            <a:ext cx="2851356" cy="769441"/>
          </a:xfrm>
          <a:prstGeom prst="rect">
            <a:avLst/>
          </a:prstGeom>
          <a:noFill/>
        </p:spPr>
        <p:txBody>
          <a:bodyPr wrap="square" rtlCol="0">
            <a:spAutoFit/>
          </a:bodyPr>
          <a:lstStyle/>
          <a:p>
            <a:r>
              <a:rPr lang="en-IN" sz="4400" b="1" dirty="0">
                <a:solidFill>
                  <a:srgbClr val="00B050"/>
                </a:solidFill>
                <a:latin typeface="Times New Roman" panose="02020603050405020304" pitchFamily="18" charset="0"/>
                <a:cs typeface="Times New Roman" panose="02020603050405020304" pitchFamily="18" charset="0"/>
              </a:rPr>
              <a:t>Thank You</a:t>
            </a:r>
            <a:endParaRPr lang="en-IN" sz="4400"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36523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819</TotalTime>
  <Words>1774</Words>
  <Application>Microsoft Office PowerPoint</Application>
  <PresentationFormat>Widescreen</PresentationFormat>
  <Paragraphs>173</Paragraphs>
  <Slides>32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Lakkaraju Sri Prathyusha</dc:creator>
  <cp:lastModifiedBy>Aastha Singh</cp:lastModifiedBy>
  <cp:revision>12</cp:revision>
  <dcterms:created xsi:type="dcterms:W3CDTF">2025-12-16T09:55:10Z</dcterms:created>
  <dcterms:modified xsi:type="dcterms:W3CDTF">2025-12-22T15:32:36Z</dcterms:modified>
</cp:coreProperties>
</file>